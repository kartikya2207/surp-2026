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9D8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828800"/>
            <a:ext cx="5120640" cy="5120640"/>
          </a:xfrm>
          <a:prstGeom prst="ellipse">
            <a:avLst/>
          </a:prstGeom>
          <a:solidFill>
            <a:srgbClr val="3E9D8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731520"/>
            <a:ext cx="2743200" cy="2743200"/>
          </a:xfrm>
          <a:prstGeom prst="ellipse">
            <a:avLst/>
          </a:prstGeom>
          <a:solidFill>
            <a:srgbClr val="8AB2A6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II  ·  THE FUTURES EXTENSION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SAME STRATEGY,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LOWER-COST REGIME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NSE single-stock futures  ·  2015–2024  ·  fully realistic mechanics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cash study showed the edge is real but dies on cost, and turns positive below ~15 bps. Futures are that regime.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5074920"/>
            <a:ext cx="2743200" cy="0"/>
          </a:xfrm>
          <a:prstGeom prst="line">
            <a:avLst/>
          </a:prstGeom>
          <a:noFill/>
          <a:ln w="31750">
            <a:solidFill>
              <a:srgbClr val="3E9D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Kartikya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A — Strategy Design    |    Guide: Prof. Sandip Mondal (EE, IIT Bombay)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WE BUILT THE STUDY 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1737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2,468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606040" y="1828800"/>
            <a:ext cx="3154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trading days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2015–2024, NSE F&amp;O bhavcopy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534924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89504"/>
            <a:ext cx="1737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~190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606040" y="2889504"/>
            <a:ext cx="3154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single-stock futures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point-in-time: the universe as it actually was each day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04488"/>
            <a:ext cx="534924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50208"/>
            <a:ext cx="1737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0.990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606040" y="3950208"/>
            <a:ext cx="3154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futures-vs-cash correlation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median across 292 names; basis +0.31%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65192"/>
            <a:ext cx="534924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010912"/>
            <a:ext cx="1737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FREE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606040" y="5010912"/>
            <a:ext cx="3154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account needed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NSE's official public daily archive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0A0D1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19933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THE RAW DATA NEEDED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251460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Point-in-time universe — names enter and leave F&amp;O, so each day's tradable set comes from that day's file</a:t>
            </a:r>
            <a:endParaRPr lang="en-US" sz="1200" dirty="0"/>
          </a:p>
          <a:p>
            <a:pPr marL="203200" indent="-2032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contracts — stitch front-month across monthly expiries and back-adjust so the roll gap isn't a fake return</a:t>
            </a:r>
            <a:endParaRPr lang="en-US" sz="1200" dirty="0"/>
          </a:p>
          <a:p>
            <a:pPr marL="203200" indent="-2032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Corporate actions — futures prices are raw; splits, bonuses and demergers put fake jumps in the series</a:t>
            </a:r>
            <a:endParaRPr lang="en-US" sz="1200" dirty="0"/>
          </a:p>
          <a:p>
            <a:pPr marL="203200" indent="-2032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Lot sizes — absent from the pre-2024 format, so derived from turnover and cross-checked</a:t>
            </a:r>
            <a:endParaRPr lang="en-US" sz="1200" dirty="0"/>
          </a:p>
          <a:p>
            <a:pPr marL="203200" indent="-203200">
              <a:lnSpc>
                <a:spcPct val="113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Liquidity ranking by open interest, not volume (volume units changed mid-2024)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IDENTICAL SIGNAL, NEW INSTRUMENT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signal is unchanged from the cash study — same PCA, same s-score, same thresholds. Only the instrument and its mechanics differ, so the comparison isolates cost.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109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31136"/>
            <a:ext cx="438912" cy="438912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311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71600" y="213969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DECOMPOSE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139696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PCA on 60 days of returns for the top 120 names by open interest. Five factors capture the market and sector blocks.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109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008376"/>
            <a:ext cx="438912" cy="438912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0083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371600" y="291693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RESIDUAL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916936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Regress each name on those factors and subtract — what's left is its own idiosyncratic move.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109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785616"/>
            <a:ext cx="438912" cy="438912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7856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71600" y="369417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s-SCORE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3694176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Cumulate the residual, fit a mean-reversion model, standardize: how many std-devs from its own equilibrium.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109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562856"/>
            <a:ext cx="438912" cy="438912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5628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371600" y="447141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TRADE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4471416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s &gt; +2, long s &lt; −2, longs balanced against shorts. Relative mispricing, not market direction.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1099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5340096"/>
            <a:ext cx="438912" cy="438912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53400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5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371600" y="524865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SIZE &amp; EXIT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49040" y="5248656"/>
            <a:ext cx="7726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Inverse-vol sizing, gross capped 100%. Exit on revert (profit), diverge past 3σ (stop), or 15 days (stale).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ADAPTATION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THREE THINGS FUTURES FORCED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9312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93392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2" y="213128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CONTRACTS EXPIRE — SO WE ROLL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29992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Futures expire monthly, so a position can't simply be held. Two days before expiry we close the near contract and open the next: two real trades, both charged. The position carries across with its P&amp;L and its 15-day clock intact.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98848" y="1737360"/>
            <a:ext cx="3639312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18888" y="1993392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780" y="2131284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8888" y="2697480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WHOLE LOTS, NOT SHARES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18888" y="3383280"/>
            <a:ext cx="29992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position is an integer number of lots, not any rupee amount. Sizing floors to whole lots and skips a name if one lot breaches the 5% per-name cap. Capital is Rs 10 crore — at Rs 10 lakh almost the whole universe would be skipped.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449056" y="1737360"/>
            <a:ext cx="3639312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69096" y="1993392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988" y="213128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69096" y="2697480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TWO VIEWS OF THE SAME MARKET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769096" y="3383280"/>
            <a:ext cx="29992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signal reads a back-adjusted continuous series, so the PCA sees clean returns with no artificial roll jumps. Fills happen on the real front-month contract at its own traded price — same day, two representations.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230368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A0D10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5422392"/>
            <a:ext cx="493776" cy="493776"/>
          </a:xfrm>
          <a:prstGeom prst="ellipse">
            <a:avLst/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42" y="5550774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5394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8A2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AND THE POINT OF IT ALL: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480560" y="5376672"/>
            <a:ext cx="6995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All-in cost ≈ 4–5 bps per side against ~42 bps round-trip in cash. STT is 0.02% sell-side only, not 0.1% both sides — comfortably below the 18–20 bps break-even the cash study identified.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9D8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2103120"/>
            <a:ext cx="5486400" cy="5486400"/>
          </a:xfrm>
          <a:prstGeom prst="ellipse">
            <a:avLst/>
          </a:prstGeom>
          <a:solidFill>
            <a:srgbClr val="3E9D8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&amp; VALIDATION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FOUR STAGES — THREE DONE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10881360" cy="987552"/>
          </a:xfrm>
          <a:prstGeom prst="roundRect">
            <a:avLst>
              <a:gd name="adj" fmla="val 4630"/>
            </a:avLst>
          </a:prstGeom>
          <a:solidFill>
            <a:srgbClr val="14201C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368296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20" y="2506188"/>
            <a:ext cx="254569" cy="2545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10512" y="2286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STAGE 1 · DATA PIPELINE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10512" y="26243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Downloaded and cleaned 2,468 days of NSE F&amp;O, cash and corporate-action archives. Built the point-in-time universe, continuous contracts and adjustment layer.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469880" y="2432304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3E9D81"/>
          </a:solidFill>
          <a:ln/>
        </p:spPr>
      </p:sp>
      <p:sp>
        <p:nvSpPr>
          <p:cNvPr id="12" name="Text 9"/>
          <p:cNvSpPr/>
          <p:nvPr/>
        </p:nvSpPr>
        <p:spPr>
          <a:xfrm>
            <a:off x="10469880" y="2432304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7240" y="3236976"/>
            <a:ext cx="10881360" cy="987552"/>
          </a:xfrm>
          <a:prstGeom prst="roundRect">
            <a:avLst>
              <a:gd name="adj" fmla="val 4630"/>
            </a:avLst>
          </a:prstGeom>
          <a:solidFill>
            <a:srgbClr val="14201C"/>
          </a:solidFill>
          <a:ln/>
        </p:spPr>
      </p:sp>
      <p:sp>
        <p:nvSpPr>
          <p:cNvPr id="14" name="Shape 11"/>
          <p:cNvSpPr/>
          <p:nvPr/>
        </p:nvSpPr>
        <p:spPr>
          <a:xfrm>
            <a:off x="1024128" y="3456432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20" y="3594324"/>
            <a:ext cx="254569" cy="25456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10512" y="337413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STAGE 2 · STRATEGY PORTED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810512" y="3712464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signal running on futures with whole lots, real contracts and monthly rolls. Every fill lands on a real contract; zero-cost mode charges exactly zero.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469880" y="352044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3E9D81"/>
          </a:solidFill>
          <a:ln/>
        </p:spPr>
      </p:sp>
      <p:sp>
        <p:nvSpPr>
          <p:cNvPr id="19" name="Text 15"/>
          <p:cNvSpPr/>
          <p:nvPr/>
        </p:nvSpPr>
        <p:spPr>
          <a:xfrm>
            <a:off x="10469880" y="3520440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77240" y="4325112"/>
            <a:ext cx="10881360" cy="987552"/>
          </a:xfrm>
          <a:prstGeom prst="roundRect">
            <a:avLst>
              <a:gd name="adj" fmla="val 4630"/>
            </a:avLst>
          </a:prstGeom>
          <a:solidFill>
            <a:srgbClr val="14201C"/>
          </a:solidFill>
          <a:ln/>
        </p:spPr>
      </p:sp>
      <p:sp>
        <p:nvSpPr>
          <p:cNvPr id="21" name="Shape 17"/>
          <p:cNvSpPr/>
          <p:nvPr/>
        </p:nvSpPr>
        <p:spPr>
          <a:xfrm>
            <a:off x="1024128" y="4544568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20" y="4682460"/>
            <a:ext cx="254569" cy="25456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10512" y="44622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STAGE 3 · HARNESS VALIDATED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810512" y="48006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Known-answer tests pass with lots and rolls live: reversion +117%, random walk +1%, momentum −41%, flipped +62%. Equity reconstructs to 1e-15.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0469880" y="460857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3E9D81"/>
          </a:solidFill>
          <a:ln/>
        </p:spPr>
      </p:sp>
      <p:sp>
        <p:nvSpPr>
          <p:cNvPr id="26" name="Text 21"/>
          <p:cNvSpPr/>
          <p:nvPr/>
        </p:nvSpPr>
        <p:spPr>
          <a:xfrm>
            <a:off x="10469880" y="4608576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DONE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77240" y="5413248"/>
            <a:ext cx="10881360" cy="987552"/>
          </a:xfrm>
          <a:prstGeom prst="roundRect">
            <a:avLst>
              <a:gd name="adj" fmla="val 4630"/>
            </a:avLst>
          </a:prstGeom>
          <a:solidFill>
            <a:srgbClr val="14201C"/>
          </a:solidFill>
          <a:ln/>
        </p:spPr>
      </p:sp>
      <p:sp>
        <p:nvSpPr>
          <p:cNvPr id="28" name="Shape 23"/>
          <p:cNvSpPr/>
          <p:nvPr/>
        </p:nvSpPr>
        <p:spPr>
          <a:xfrm>
            <a:off x="1024128" y="5632704"/>
            <a:ext cx="530352" cy="530352"/>
          </a:xfrm>
          <a:prstGeom prst="ellipse">
            <a:avLst/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20" y="5770596"/>
            <a:ext cx="254569" cy="25456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810512" y="555040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8A2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STAGE 4 · THE BACKTEST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810512" y="5888736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Full-cost vs zero-cost over 2015–2024, plus the out-of-sample reversion test. Running now — the first actual result of the futures study.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10469880" y="569671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/>
        </p:spPr>
      </p:sp>
      <p:sp>
        <p:nvSpPr>
          <p:cNvPr id="33" name="Text 27"/>
          <p:cNvSpPr/>
          <p:nvPr/>
        </p:nvSpPr>
        <p:spPr>
          <a:xfrm>
            <a:off x="10469880" y="569671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RUNNING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777240" y="6446520"/>
            <a:ext cx="10881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Seven data and logic bugs were caught and fixed by the validation gates before any result was produced.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 Stat Arb — Futures Extension</dc:title>
  <dc:subject>PptxGenJS Presentation</dc:subject>
  <dc:creator>Kartikya</dc:creator>
  <cp:lastModifiedBy>Kartikya</cp:lastModifiedBy>
  <cp:revision>1</cp:revision>
  <dcterms:created xsi:type="dcterms:W3CDTF">2026-09-10T15:19:20Z</dcterms:created>
  <dcterms:modified xsi:type="dcterms:W3CDTF">2026-09-10T15:19:20Z</dcterms:modified>
</cp:coreProperties>
</file>