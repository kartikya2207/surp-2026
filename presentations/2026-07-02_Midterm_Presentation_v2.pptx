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Zero-cost (bare signal)</c:v>
                </c:pt>
              </c:strCache>
            </c:strRef>
          </c:tx>
          <c:spPr>
            <a:solidFill>
              <a:srgbClr val="3E9D81"/>
            </a:solidFill>
            <a:ln w="38100" cap="flat">
              <a:solidFill>
                <a:srgbClr val="3E9D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E9D81"/>
              </a:solidFill>
              <a:ln w="9525" cap="flat">
                <a:solidFill>
                  <a:srgbClr val="3E9D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2015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>2016</c:v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2018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>2019</c:v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2020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2022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>2023</c:v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</c:lvl>
              </c:multiLvlStrCache>
            </c:multiLvl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0</c:v>
                </c:pt>
                <c:pt idx="1">
                  <c:v>4.46</c:v>
                </c:pt>
                <c:pt idx="2">
                  <c:v>3.5</c:v>
                </c:pt>
                <c:pt idx="3">
                  <c:v>4.07</c:v>
                </c:pt>
                <c:pt idx="4">
                  <c:v>6.04</c:v>
                </c:pt>
                <c:pt idx="5">
                  <c:v>2.92</c:v>
                </c:pt>
                <c:pt idx="6">
                  <c:v>0.67</c:v>
                </c:pt>
                <c:pt idx="7">
                  <c:v>4.02</c:v>
                </c:pt>
                <c:pt idx="8">
                  <c:v>5.56</c:v>
                </c:pt>
                <c:pt idx="9">
                  <c:v>5.68</c:v>
                </c:pt>
                <c:pt idx="10">
                  <c:v>10.47</c:v>
                </c:pt>
                <c:pt idx="11">
                  <c:v>13.61</c:v>
                </c:pt>
                <c:pt idx="12">
                  <c:v>11.13</c:v>
                </c:pt>
                <c:pt idx="13">
                  <c:v>10.89</c:v>
                </c:pt>
                <c:pt idx="14">
                  <c:v>12.21</c:v>
                </c:pt>
                <c:pt idx="15">
                  <c:v>9.3</c:v>
                </c:pt>
                <c:pt idx="16">
                  <c:v>8.69</c:v>
                </c:pt>
                <c:pt idx="17">
                  <c:v>13.52</c:v>
                </c:pt>
                <c:pt idx="18">
                  <c:v>15.54</c:v>
                </c:pt>
                <c:pt idx="19">
                  <c:v>15.84</c:v>
                </c:pt>
                <c:pt idx="20">
                  <c:v>19.96</c:v>
                </c:pt>
                <c:pt idx="21">
                  <c:v>21.26</c:v>
                </c:pt>
                <c:pt idx="22">
                  <c:v>17.53</c:v>
                </c:pt>
                <c:pt idx="23">
                  <c:v>17.27</c:v>
                </c:pt>
                <c:pt idx="24">
                  <c:v>18.88</c:v>
                </c:pt>
                <c:pt idx="25">
                  <c:v>16.97</c:v>
                </c:pt>
                <c:pt idx="26">
                  <c:v>18.2</c:v>
                </c:pt>
                <c:pt idx="27">
                  <c:v>23.91</c:v>
                </c:pt>
                <c:pt idx="28">
                  <c:v>25.45</c:v>
                </c:pt>
                <c:pt idx="29">
                  <c:v>25.04</c:v>
                </c:pt>
                <c:pt idx="30">
                  <c:v>27.97</c:v>
                </c:pt>
                <c:pt idx="31">
                  <c:v>27.64</c:v>
                </c:pt>
                <c:pt idx="32">
                  <c:v>23.52</c:v>
                </c:pt>
                <c:pt idx="33">
                  <c:v>24.22</c:v>
                </c:pt>
                <c:pt idx="34">
                  <c:v>26.81</c:v>
                </c:pt>
                <c:pt idx="35">
                  <c:v>26.11</c:v>
                </c:pt>
                <c:pt idx="36">
                  <c:v>28.63</c:v>
                </c:pt>
                <c:pt idx="37">
                  <c:v>34.18</c:v>
                </c:pt>
                <c:pt idx="38">
                  <c:v>34.34</c:v>
                </c:pt>
                <c:pt idx="39">
                  <c:v>32.83</c:v>
                </c:pt>
                <c:pt idx="40">
                  <c:v>34.73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Full-cost (realistic)</c:v>
                </c:pt>
              </c:strCache>
            </c:strRef>
          </c:tx>
          <c:spPr>
            <a:solidFill>
              <a:srgbClr val="C0504D"/>
            </a:solidFill>
            <a:ln w="381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2015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>2016</c:v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2018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>2019</c:v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2020</c:v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2022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>2023</c:v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</c:lvl>
              </c:multiLvlStrCache>
            </c:multiLvl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0</c:v>
                </c:pt>
                <c:pt idx="1">
                  <c:v>2.45</c:v>
                </c:pt>
                <c:pt idx="2">
                  <c:v>0.02</c:v>
                </c:pt>
                <c:pt idx="3">
                  <c:v>-1.03</c:v>
                </c:pt>
                <c:pt idx="4">
                  <c:v>-0.82</c:v>
                </c:pt>
                <c:pt idx="5">
                  <c:v>-5.18</c:v>
                </c:pt>
                <c:pt idx="6">
                  <c:v>-8.78</c:v>
                </c:pt>
                <c:pt idx="7">
                  <c:v>-7.33</c:v>
                </c:pt>
                <c:pt idx="8">
                  <c:v>-7.5</c:v>
                </c:pt>
                <c:pt idx="9">
                  <c:v>-8.95</c:v>
                </c:pt>
                <c:pt idx="10">
                  <c:v>-6.21</c:v>
                </c:pt>
                <c:pt idx="11">
                  <c:v>-4.94</c:v>
                </c:pt>
                <c:pt idx="12">
                  <c:v>-8.73</c:v>
                </c:pt>
                <c:pt idx="13">
                  <c:v>-10.51</c:v>
                </c:pt>
                <c:pt idx="14">
                  <c:v>-10.89</c:v>
                </c:pt>
                <c:pt idx="15">
                  <c:v>-15.08</c:v>
                </c:pt>
                <c:pt idx="16">
                  <c:v>-17.18</c:v>
                </c:pt>
                <c:pt idx="17">
                  <c:v>-14.4</c:v>
                </c:pt>
                <c:pt idx="18">
                  <c:v>-14.15</c:v>
                </c:pt>
                <c:pt idx="19">
                  <c:v>-15.44</c:v>
                </c:pt>
                <c:pt idx="20">
                  <c:v>-13.3</c:v>
                </c:pt>
                <c:pt idx="21">
                  <c:v>-13.68</c:v>
                </c:pt>
                <c:pt idx="22">
                  <c:v>-18.6</c:v>
                </c:pt>
                <c:pt idx="23">
                  <c:v>-20.4</c:v>
                </c:pt>
                <c:pt idx="24">
                  <c:v>-20.52</c:v>
                </c:pt>
                <c:pt idx="25">
                  <c:v>-23.79</c:v>
                </c:pt>
                <c:pt idx="26">
                  <c:v>-24.25</c:v>
                </c:pt>
                <c:pt idx="27">
                  <c:v>-20.68</c:v>
                </c:pt>
                <c:pt idx="28">
                  <c:v>-20.86</c:v>
                </c:pt>
                <c:pt idx="29">
                  <c:v>-22.78</c:v>
                </c:pt>
                <c:pt idx="30">
                  <c:v>-21.71</c:v>
                </c:pt>
                <c:pt idx="31">
                  <c:v>-23.57</c:v>
                </c:pt>
                <c:pt idx="32">
                  <c:v>-28.84</c:v>
                </c:pt>
                <c:pt idx="33">
                  <c:v>-29.77</c:v>
                </c:pt>
                <c:pt idx="34">
                  <c:v>-29</c:v>
                </c:pt>
                <c:pt idx="35">
                  <c:v>-31.2</c:v>
                </c:pt>
                <c:pt idx="36">
                  <c:v>-30.49</c:v>
                </c:pt>
                <c:pt idx="37">
                  <c:v>-27.06</c:v>
                </c:pt>
                <c:pt idx="38">
                  <c:v>-28.48</c:v>
                </c:pt>
                <c:pt idx="39">
                  <c:v>-31.4</c:v>
                </c:pt>
                <c:pt idx="40">
                  <c:v>-31.25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C5B58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-45"/>
        </c:scaling>
        <c:delete val="0"/>
        <c:axPos val="l"/>
        <c:majorGridlines>
          <c:spPr>
            <a:ln w="6350" cap="flat">
              <a:solidFill>
                <a:srgbClr val="E4EB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C5B58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C5B58"/>
                    </a:solidFill>
                    <a:latin typeface="Arial"/>
                  </a:rPr>
                  <a:t>Cumulative return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C5B58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2222A"/>
              </a:solidFill>
              <a:latin typeface="Open Sans"/>
              <a:cs typeface="Open Sa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Sharpe</c:v>
                </c:pt>
              </c:strCache>
            </c:strRef>
          </c:tx>
          <c:spPr>
            <a:solidFill>
              <a:srgbClr val="3E9D8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22A"/>
                    </a:solidFill>
                    <a:latin typeface="Ope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42 bps
(full)</c:v>
                  </c:pt>
                  <c:pt idx="1">
                    <c:v>32 bps</c:v>
                  </c:pt>
                  <c:pt idx="2">
                    <c:v>26 bps</c:v>
                  </c:pt>
                  <c:pt idx="3">
                    <c:v>22 bps
(STT only)</c:v>
                  </c:pt>
                  <c:pt idx="4">
                    <c:v>15 bps</c:v>
                  </c:pt>
                  <c:pt idx="5">
                    <c:v>10 bps
(futures)</c:v>
                  </c:pt>
                  <c:pt idx="6">
                    <c:v>4 bps</c:v>
                  </c:pt>
                  <c:pt idx="7">
                    <c:v>0 bps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-0.56</c:v>
                </c:pt>
                <c:pt idx="1">
                  <c:v>-0.32</c:v>
                </c:pt>
                <c:pt idx="2">
                  <c:v>-0.16</c:v>
                </c:pt>
                <c:pt idx="3">
                  <c:v>-0.07</c:v>
                </c:pt>
                <c:pt idx="4">
                  <c:v>0.08</c:v>
                </c:pt>
                <c:pt idx="5">
                  <c:v>0.22</c:v>
                </c:pt>
                <c:pt idx="6">
                  <c:v>0.36</c:v>
                </c:pt>
                <c:pt idx="7">
                  <c:v>0.46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2222A"/>
                  </a:solidFill>
                  <a:latin typeface="Open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C5B58"/>
                </a:solidFill>
                <a:latin typeface="Ope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-0.7"/>
        </c:scaling>
        <c:delete val="0"/>
        <c:axPos val="l"/>
        <c:majorGridlines>
          <c:spPr>
            <a:ln w="6350" cap="flat">
              <a:solidFill>
                <a:srgbClr val="E4EB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C5B58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C5B58"/>
                    </a:solidFill>
                    <a:latin typeface="Arial"/>
                  </a:rPr>
                  <a:t>Annualized Sharpe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C5B58"/>
                </a:solidFill>
                <a:latin typeface="Ope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E9D81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828800"/>
            <a:ext cx="5120640" cy="5120640"/>
          </a:xfrm>
          <a:prstGeom prst="ellipse">
            <a:avLst/>
          </a:prstGeom>
          <a:solidFill>
            <a:srgbClr val="3E9D81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-731520"/>
            <a:ext cx="2743200" cy="2743200"/>
          </a:xfrm>
          <a:prstGeom prst="ellipse">
            <a:avLst/>
          </a:prstGeom>
          <a:solidFill>
            <a:srgbClr val="8AB2A6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AB2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SURP 2026  ·  MIDTERM PROGRESS REPORT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PCA-RESIDUAL</a:t>
            </a:r>
            <a:endParaRPr lang="en-US" sz="5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2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STATISTICAL ARBITRAGE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3E9D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 Indian Equities &amp; Futures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841248" y="4526280"/>
            <a:ext cx="2743200" cy="0"/>
          </a:xfrm>
          <a:prstGeom prst="line">
            <a:avLst/>
          </a:prstGeom>
          <a:noFill/>
          <a:ln w="31750">
            <a:solidFill>
              <a:srgbClr val="3E9D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Kartikya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B2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3rd-Year, Industrial Engineering &amp; Operations Research · IIT Bombay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B2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 A — Strategy Design    |    Guide: Prof. Sandip Mondal (EE, IIT Bombay)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9D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PROJECT AT A GLANCE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84832"/>
            <a:ext cx="566928" cy="566928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23223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84832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GOAL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96112" y="2834640"/>
            <a:ext cx="4745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&amp; honestly evaluate a market-neutral statistical-arbitrage strategy for Indian markets — not just chase a good-looking backtest.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0" y="178308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20840" y="2084832"/>
            <a:ext cx="566928" cy="566928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241" y="223223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084832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METHOD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748272" y="2834640"/>
            <a:ext cx="4745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PCA strips common market &amp; sector factors from returns; we trade the mean-reversion of the leftover stock-specific residual.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178808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480560"/>
            <a:ext cx="566928" cy="566928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4627961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480560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DISCIPLINE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96112" y="5230368"/>
            <a:ext cx="4745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Realistic Indian costs, out-of-sample tests, known-answer validation — every result independently cross-checked.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0" y="4178808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20840" y="4480560"/>
            <a:ext cx="566928" cy="566928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8241" y="4627961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480560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ARC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748272" y="5230368"/>
            <a:ext cx="47457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Cash equities studied end-to-end (complete). Now extending the identical strategy to single-stock futures.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9D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HOW PCA-RESIDUAL REVERSION WORKS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3E9D8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7A63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DECOMPOSE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0" y="1828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PCA on ~200 liquid stocks' daily returns to extract common factors (market, sectors) — the forces all stocks share.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10642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3E9D8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26517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7A63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RESIDUAL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0" y="2651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Subtract the factor-explained part from each stock's return. What remains is its own idiosyncratic move.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10642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566160"/>
            <a:ext cx="457200" cy="457200"/>
          </a:xfrm>
          <a:prstGeom prst="ellipse">
            <a:avLst/>
          </a:prstGeom>
          <a:solidFill>
            <a:srgbClr val="3E9D8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474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7A63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SIGNAL (s-SCORE)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14800" y="34747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Standardize the residual: how many std-devs from normal is this stock? High = 'rich', low = 'cheap'.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110642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389120"/>
            <a:ext cx="457200" cy="457200"/>
          </a:xfrm>
          <a:prstGeom prst="ellipse">
            <a:avLst/>
          </a:prstGeom>
          <a:solidFill>
            <a:srgbClr val="3E9D8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71600" y="42976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7A63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TRADE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114800" y="4297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Short the rich (s &gt; +2), long the cheap (s &lt; −2), dollar-neutral. Bet on relative reversion, not market direction.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110642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3E9D81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371600" y="5120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7A63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SIZE &amp; EXIT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114800" y="5120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Inverse-volatility sizing, gross capped ~100%. Triple-barrier exit: revert (profit), diverge (stop), or 15-day time-stop.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Faithful implementation of the Avellaneda–Lee (2010) framework — parameters kept at literature defaults, deliberately not tuned.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E9D81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657600"/>
            <a:ext cx="5486400" cy="5486400"/>
          </a:xfrm>
          <a:prstGeom prst="ellipse">
            <a:avLst/>
          </a:prstGeom>
          <a:solidFill>
            <a:srgbClr val="3E9D81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40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8AB2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 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CASH-EQUITY STUDY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41248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B2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years of real NSE data  ·  435 stocks  ·  2015–2024  ·  fully realistic Indian costs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41248" y="4892040"/>
            <a:ext cx="658368" cy="658368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424" y="5063216"/>
            <a:ext cx="316017" cy="3160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9D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 I ·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DATA &amp; EXPERIMENTAL SETUP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65376"/>
            <a:ext cx="19202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E9D8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2,466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0" y="1865376"/>
            <a:ext cx="2880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trading days (2015–2024)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98648"/>
            <a:ext cx="521208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935224"/>
            <a:ext cx="19202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E9D8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435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43200" y="2935224"/>
            <a:ext cx="2880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NSE stocks (cleaned universe)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68496"/>
            <a:ext cx="521208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005072"/>
            <a:ext cx="19202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E9D8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~200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743200" y="4005072"/>
            <a:ext cx="2880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traded daily, ranked by liquidity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038344"/>
            <a:ext cx="521208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5074920"/>
            <a:ext cx="192024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E9D8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₹10 L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743200" y="5074920"/>
            <a:ext cx="288036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starting capital · ~100% gross cap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5532120" cy="4160520"/>
          </a:xfrm>
          <a:prstGeom prst="roundRect">
            <a:avLst>
              <a:gd name="adj" fmla="val 1319"/>
            </a:avLst>
          </a:prstGeom>
          <a:solidFill>
            <a:srgbClr val="0A0D10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0" y="2057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E9D8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BUILT FOR REALISM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00800" y="260604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8F0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Adjusted OHLCV via yfinance — splits &amp; dividends handled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8F0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Look-ahead-safe: signal at T close → trade T+1 open → mark T+1 close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8F0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Realistic Indian cost model: STT + slippage + brokerage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8F0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Late IPOs excluded until listed — no phantom trades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E8F0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Python pipeline: signal → decision → execution → P&amp;L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9D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 I · HEADLINE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SIGNAL HAS EDGE — COSTS ERASE IT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74523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920240"/>
            <a:ext cx="3429000" cy="1243584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458200" y="20116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E9D8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+32.9%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8458200" y="259689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2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Zero-cost return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458200" y="28346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Sharpe +0.46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0" y="3291840"/>
            <a:ext cx="3429000" cy="1243584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458200" y="33832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0504D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−32.9%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8458200" y="396849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2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Full-cost return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458200" y="4206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Sharpe −0.56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29600" y="4663440"/>
            <a:ext cx="3429000" cy="1243584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458200" y="47548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98A2B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₹6.15 L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8458200" y="534009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2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 costs paid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458200" y="5577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≈ 2× the gross edge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9D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 I · THE DECISIVE FINDING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WHY IT FAILS: THE TAX ALONE BEATS THE EDGE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71780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828800"/>
            <a:ext cx="3703320" cy="4160520"/>
          </a:xfrm>
          <a:prstGeom prst="roundRect">
            <a:avLst>
              <a:gd name="adj" fmla="val 1481"/>
            </a:avLst>
          </a:prstGeom>
          <a:solidFill>
            <a:srgbClr val="0A0D10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183880" y="2057400"/>
            <a:ext cx="512064" cy="512064"/>
          </a:xfrm>
          <a:prstGeom prst="ellipse">
            <a:avLst/>
          </a:prstGeom>
          <a:solidFill>
            <a:srgbClr val="D98A2B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7017" y="2190537"/>
            <a:ext cx="245791" cy="2457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823960" y="207568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98A2B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STRUCTURAL WALL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8183880" y="265176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Break-even ≈ 18–20 bps</a:t>
            </a:r>
            <a:endParaRPr lang="en-US" sz="1450" dirty="0"/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D8E4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India's STT floor alone is ~22 bps round-trip — a government tax you cannot avoid.</a:t>
            </a:r>
            <a:endParaRPr lang="en-US" sz="1450" dirty="0"/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D8E4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 'STT only' (zero slippage), the strategy is already negative.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9D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Untradable in cash equities under any execution — positive only in a low-cost futures regime.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9D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 I · STATISTICAL VALIDITY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IS THE REVERSION REAL? OOS SAYS YES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froze the PCA factors on past data and tested whether today's s-score predicts FUTURE residual returns (Fama–MacBeth). Over 10 years the effect is small but statistically significant at every horizon.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70408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37160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Horizon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Correlation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t-statistic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Hit rate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A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Significant?</a:t>
                      </a:r>
                      <a:endParaRPr lang="en-US" sz="13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A6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22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 day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22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−0.019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22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−2.35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22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54.1%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22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Yes ✓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22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 days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22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−0.021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22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−2.75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22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55.1%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22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Yes ✓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22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 days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22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−0.019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22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−2.25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22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54.9%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22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Yes ✓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22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10 days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22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−0.028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22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−2.71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22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55.9%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22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Yes ✓</a:t>
                      </a:r>
                      <a:endParaRPr lang="en-US" sz="135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955280" y="1965960"/>
            <a:ext cx="3703320" cy="3977640"/>
          </a:xfrm>
          <a:prstGeom prst="roundRect">
            <a:avLst>
              <a:gd name="adj" fmla="val 1481"/>
            </a:avLst>
          </a:prstGeom>
          <a:solidFill>
            <a:srgbClr val="0A0D10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183880" y="2194560"/>
            <a:ext cx="512064" cy="512064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7017" y="2327697"/>
            <a:ext cx="245791" cy="2457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23960" y="221284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E9D8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WHAT THIS MEANS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183880" y="2788920"/>
            <a:ext cx="3291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3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|t| &gt; 1.96  =  statistically real</a:t>
            </a:r>
            <a:endParaRPr lang="en-US" sz="1350" dirty="0"/>
          </a:p>
          <a:p>
            <a:pPr indent="0" marL="0">
              <a:lnSpc>
                <a:spcPct val="113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D8E4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reversion genuinely exists on NSE equities — not noise.</a:t>
            </a:r>
            <a:endParaRPr lang="en-US" sz="1350" dirty="0"/>
          </a:p>
          <a:p>
            <a:pPr indent="0" marL="0">
              <a:lnSpc>
                <a:spcPct val="113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D8E4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But correlation ~0.02 is tiny — edge per trade is minuscule.</a:t>
            </a:r>
            <a:endParaRPr lang="en-US" sz="135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1250" b="1" i="1" dirty="0">
                <a:solidFill>
                  <a:srgbClr val="3E9D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Statistically significant, economically too thin to beat costs.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9D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 I · DOING IT HONESTLY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RIGOR: WHY THE RESULT IS TRUSTWORTHY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075688"/>
            <a:ext cx="530352" cy="530352"/>
          </a:xfrm>
          <a:prstGeom prst="ellipse">
            <a:avLst/>
          </a:prstGeom>
          <a:solidFill>
            <a:srgbClr val="C0504D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428" y="2213580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2057400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FOUND &amp; FIXED A REAL P&amp;L BUG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77824" y="2788920"/>
            <a:ext cx="47823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First backtest showed −35%. An audit found closed positions weren't crediting realized gains to cash. Fixed &amp; re-verified — the loss was a bug, not a result.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0" y="178308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11696" y="2075688"/>
            <a:ext cx="530352" cy="530352"/>
          </a:xfrm>
          <a:prstGeom prst="ellipse">
            <a:avLst/>
          </a:prstGeom>
          <a:solidFill>
            <a:srgbClr val="D98A2B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588" y="2213580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88352" y="2057400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AVOIDED TWO OVERFITTING TRAPS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729984" y="2788920"/>
            <a:ext cx="47823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'lucky' factor count and an in-sample reversion artifact both looked great but were noise. Rejected both by staying skeptical of good-looking numbers.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9536" y="4453128"/>
            <a:ext cx="530352" cy="530352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428" y="4591020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36192" y="4434840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VALIDATED THE ENGINE ITSELF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77824" y="5166360"/>
            <a:ext cx="47823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Known-answer tests: strong reversion → profit, random walk → flat, momentum → loss (and win when flipped). Proves the harness detects edge and invents none.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0" y="416052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11696" y="4453128"/>
            <a:ext cx="530352" cy="530352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9588" y="4591020"/>
            <a:ext cx="254569" cy="2545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88352" y="4434840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TRIPLE-VERIFIED THE NUMBERS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729984" y="5166360"/>
            <a:ext cx="47823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Two independent audits plus an equity-curve reconstruction matching to floating-point zero. Every headline number reproduces from committed code.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E9D81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657600"/>
            <a:ext cx="5486400" cy="5486400"/>
          </a:xfrm>
          <a:prstGeom prst="ellipse">
            <a:avLst/>
          </a:prstGeom>
          <a:solidFill>
            <a:srgbClr val="3E9D81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40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8AB2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 II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FUTURES EXTENSION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41248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B2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Same strategy, lower-cost regime — where the cash study says an edge could survive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41248" y="4892040"/>
            <a:ext cx="658368" cy="658368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424" y="5063216"/>
            <a:ext cx="316017" cy="3160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9D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 II ·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WHY SINGLE-STOCK FUTURES ARE THE PIVOT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075688"/>
            <a:ext cx="530352" cy="530352"/>
          </a:xfrm>
          <a:prstGeom prst="ellipse">
            <a:avLst/>
          </a:prstGeom>
          <a:solidFill>
            <a:srgbClr val="D98A2B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428" y="2213580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2057400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COSTS ~4× LOWER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77824" y="2788920"/>
            <a:ext cx="47823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STT-scale tax (~0.02% sell-side only). All-in ~10–15 bps vs ~42 bps in cash — exactly the regime where the edge turns positive (Sharpe ~+0.22).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0" y="178308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711696" y="2075688"/>
            <a:ext cx="530352" cy="530352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588" y="2213580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88352" y="2057400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SHORTING IS REALISTIC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729984" y="2788920"/>
            <a:ext cx="47823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cash study assumed free overnight shorting — not truly possible for retail. Futures short freely overnight, making the market-neutral book genuinely executable.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9536" y="4453128"/>
            <a:ext cx="530352" cy="530352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428" y="4591020"/>
            <a:ext cx="254569" cy="25456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36192" y="4434840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FREE 10-YEAR DATA EXISTS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77824" y="5166360"/>
            <a:ext cx="47823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NSE F&amp;O bhavcopy — official daily archive, free, no account. Covers all single-stock &amp; index futures 2015–2024, including contract-roll construction.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0" y="416052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11696" y="4453128"/>
            <a:ext cx="530352" cy="530352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9588" y="4591020"/>
            <a:ext cx="254569" cy="25456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88352" y="4434840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MINIMAL CHANGE TO METHOD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729984" y="5166360"/>
            <a:ext cx="47823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identical PCA-residual pipeline runs on a continuous futures series. We reuse the verified engine — only the instrument and cost model change.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9D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 II · PROGRESS SO FAR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DATA PIPELINE: VERIFIED ON 2 NAMES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3212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12064" cy="512064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377" y="2144817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7A63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VERIFIED &amp; WORKING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560320"/>
            <a:ext cx="4983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1222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Bhavcopy download &amp; parsing for BOTH formats (old CSV + new UDiFF post-2024)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1222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Front-month extraction + continuous-contract stitching with roll back-adjustment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1222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Corporate-action fix — caught a RELIANCE 1:1 bonus (fake −50% jump) and corrected it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250" dirty="0">
                <a:solidFill>
                  <a:srgbClr val="12222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Validated vs cash: ~0.99 return correlation, small clean basis, zero gaps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440680" cy="4206240"/>
          </a:xfrm>
          <a:prstGeom prst="roundRect">
            <a:avLst>
              <a:gd name="adj" fmla="val 1304"/>
            </a:avLst>
          </a:prstGeom>
          <a:solidFill>
            <a:srgbClr val="0A0D10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2011680"/>
            <a:ext cx="512064" cy="512064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657" y="2144817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2029968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9D8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BEFORE SCALING TO ~190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83680" y="256032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8F0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Point-in-time F&amp;O membership list — which stocks had futures each day (kills survivorship bias)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8F0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Corporate-action coverage at scale — add demergers / special dividends (e.g. RIL–Jio spin-off)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8F0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Volume-unit normalization across the mid-2024 bhavcopy format change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9D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ROAD TO A DEFINITIVE FUTURES RESULT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39312" cy="4114800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03120"/>
            <a:ext cx="566928" cy="566928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513" y="225052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27832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dirty="0">
                <a:solidFill>
                  <a:srgbClr val="E1EBE7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914400" y="2926080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9D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EARLY JULY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200400"/>
            <a:ext cx="2999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SCALE THE DATA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914400" y="3794760"/>
            <a:ext cx="2907792" cy="0"/>
          </a:xfrm>
          <a:prstGeom prst="line">
            <a:avLst/>
          </a:prstGeom>
          <a:noFill/>
          <a:ln w="12700">
            <a:solidFill>
              <a:srgbClr val="E4EB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3950208"/>
            <a:ext cx="294436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Extend the verified pipeline to the full ~190 single-stock-futures universe with the point-in-time list and full corporate-action handling.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98848" y="1783080"/>
            <a:ext cx="3639312" cy="4114800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2103120"/>
            <a:ext cx="566928" cy="566928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721" y="2250521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7804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dirty="0">
                <a:solidFill>
                  <a:srgbClr val="E1EBE7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</a:t>
            </a:r>
            <a:endParaRPr lang="en-US" sz="3400" dirty="0"/>
          </a:p>
        </p:txBody>
      </p:sp>
      <p:sp>
        <p:nvSpPr>
          <p:cNvPr id="16" name="Text 12"/>
          <p:cNvSpPr/>
          <p:nvPr/>
        </p:nvSpPr>
        <p:spPr>
          <a:xfrm>
            <a:off x="4864608" y="2926080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9D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MID JULY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864608" y="3200400"/>
            <a:ext cx="2999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PORT THE STRATEGY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4864608" y="3794760"/>
            <a:ext cx="2907792" cy="0"/>
          </a:xfrm>
          <a:prstGeom prst="line">
            <a:avLst/>
          </a:prstGeom>
          <a:noFill/>
          <a:ln w="12700">
            <a:solidFill>
              <a:srgbClr val="E4EBE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64608" y="3950208"/>
            <a:ext cx="294436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the PCA-residual pipeline on continuous futures with a fully realistic model: expiry rolling &amp; roll costs, lot sizes, futures costs, margin.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8449056" y="1783080"/>
            <a:ext cx="3639312" cy="4114800"/>
          </a:xfrm>
          <a:prstGeom prst="roundRect">
            <a:avLst>
              <a:gd name="adj" fmla="val 15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796528" y="2103120"/>
            <a:ext cx="566928" cy="566928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3929" y="2250521"/>
            <a:ext cx="272125" cy="27212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128248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dirty="0">
                <a:solidFill>
                  <a:srgbClr val="E1EBE7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</a:t>
            </a:r>
            <a:endParaRPr lang="en-US" sz="3400" dirty="0"/>
          </a:p>
        </p:txBody>
      </p:sp>
      <p:sp>
        <p:nvSpPr>
          <p:cNvPr id="24" name="Text 19"/>
          <p:cNvSpPr/>
          <p:nvPr/>
        </p:nvSpPr>
        <p:spPr>
          <a:xfrm>
            <a:off x="8814816" y="2926080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9D8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LATE JULY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814816" y="3200400"/>
            <a:ext cx="29992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A0D1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DEFINITIVE BACKTEST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8814816" y="3794760"/>
            <a:ext cx="2907792" cy="0"/>
          </a:xfrm>
          <a:prstGeom prst="line">
            <a:avLst/>
          </a:prstGeom>
          <a:noFill/>
          <a:ln w="12700">
            <a:solidFill>
              <a:srgbClr val="E4EBE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814816" y="3950208"/>
            <a:ext cx="294436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Full-cost vs zero-cost, re-validated OOS &amp; known-answer. Test whether the lower-cost futures regime finally makes the edge tradable.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C5B5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E9D81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-2103120"/>
            <a:ext cx="5486400" cy="5486400"/>
          </a:xfrm>
          <a:prstGeom prst="ellipse">
            <a:avLst/>
          </a:prstGeom>
          <a:solidFill>
            <a:srgbClr val="3E9D81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B2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00584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WHERE WE STAND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10881360" cy="1234440"/>
          </a:xfrm>
          <a:prstGeom prst="roundRect">
            <a:avLst>
              <a:gd name="adj" fmla="val 3704"/>
            </a:avLst>
          </a:prstGeom>
          <a:solidFill>
            <a:srgbClr val="14201C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2478024"/>
            <a:ext cx="566928" cy="566928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8961" y="2625425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233172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9D8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 complete, rigorous result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920240" y="2724912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8E4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PCA-residual reversion on NSE cash equities is statistically real but economically untradable — the STT floor alone exceeds the edge. Triple-verified, honestly reported.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7240" y="3520440"/>
            <a:ext cx="10881360" cy="1234440"/>
          </a:xfrm>
          <a:prstGeom prst="roundRect">
            <a:avLst>
              <a:gd name="adj" fmla="val 3704"/>
            </a:avLst>
          </a:prstGeom>
          <a:solidFill>
            <a:srgbClr val="14201C"/>
          </a:solidFill>
          <a:ln/>
        </p:spPr>
      </p:sp>
      <p:sp>
        <p:nvSpPr>
          <p:cNvPr id="12" name="Shape 9"/>
          <p:cNvSpPr/>
          <p:nvPr/>
        </p:nvSpPr>
        <p:spPr>
          <a:xfrm>
            <a:off x="1051560" y="3849624"/>
            <a:ext cx="566928" cy="566928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961" y="3997025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20240" y="370332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9D8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Research-grade discipline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920240" y="4096512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8E4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Out-of-sample Fama–MacBeth testing, known-answer validation, a caught P&amp;L bug and two avoided overfitting traps — the negative result is credible, not a dead end.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77240" y="4892040"/>
            <a:ext cx="10881360" cy="1234440"/>
          </a:xfrm>
          <a:prstGeom prst="roundRect">
            <a:avLst>
              <a:gd name="adj" fmla="val 3704"/>
            </a:avLst>
          </a:prstGeom>
          <a:solidFill>
            <a:srgbClr val="14201C"/>
          </a:solidFill>
          <a:ln/>
        </p:spPr>
      </p:sp>
      <p:sp>
        <p:nvSpPr>
          <p:cNvPr id="17" name="Shape 13"/>
          <p:cNvSpPr/>
          <p:nvPr/>
        </p:nvSpPr>
        <p:spPr>
          <a:xfrm>
            <a:off x="1051560" y="5221224"/>
            <a:ext cx="566928" cy="566928"/>
          </a:xfrm>
          <a:prstGeom prst="ellipse">
            <a:avLst/>
          </a:prstGeom>
          <a:solidFill>
            <a:srgbClr val="3E9D81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961" y="5368625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20240" y="507492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9D81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 clear, motivated next step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920240" y="5468112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8E4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cost analysis points precisely to futures. The free data pipeline is already verified end-to-end; the definitive futures backtest is the immediate goal.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77240" y="6355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B2A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THANK YOU   ·   Kartikya   ·   Guide: Prof. Sandip Mondal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PCA-Residual Statistical Arbitrage — SURP Midterm</dc:title>
  <dc:subject>PptxGenJS Presentation</dc:subject>
  <dc:creator>Kartikya</dc:creator>
  <cp:lastModifiedBy>Kartikya</cp:lastModifiedBy>
  <cp:revision>1</cp:revision>
  <dcterms:created xsi:type="dcterms:W3CDTF">2026-07-02T14:39:04Z</dcterms:created>
  <dcterms:modified xsi:type="dcterms:W3CDTF">2026-07-02T14:39:04Z</dcterms:modified>
</cp:coreProperties>
</file>