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256032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256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A · STRATEGY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64592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Literature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3017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1–3 · Classical Strategies · Pattern Detection · Market 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4663440"/>
            <a:ext cx="8595360" cy="1828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Kartik · Team A · Phase 1 · June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73152" cy="155448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Strategies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38988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· Mean Reversion · StatArb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73152" cy="1554480"/>
          </a:xfrm>
          <a:prstGeom prst="rect">
            <a:avLst/>
          </a:prstGeom>
          <a:solidFill>
            <a:srgbClr val="12B5C5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B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9496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138988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Imbalance · OBI formula · Cartea et 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51760"/>
            <a:ext cx="73152" cy="15544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21868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 · Price Impact · Market Making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51760"/>
            <a:ext cx="40233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651760"/>
            <a:ext cx="73152" cy="155448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9496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Dependencies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21868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three themes connect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7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Strategies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Asness, Moskowitz &amp; Pedersen (2013) — "Value and Momentum Everywhere"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389120"/>
            <a:ext cx="22860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Strategy Families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A7E8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THEME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77240"/>
            <a:ext cx="2834640" cy="6400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886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07592"/>
            <a:ext cx="256032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overshoot and snap back to equilibrium. Short-volatility in disguise — steady gains, occasional large losses. Works in range-bound, calm regimes.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7772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77240"/>
            <a:ext cx="283464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886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307592"/>
            <a:ext cx="256032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winners keep winning for 1–12 months. Two flavours: cross-sectional (rank stocks) and time-series (each asset individually). Crashes at market turning points.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777240"/>
            <a:ext cx="28346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777240"/>
            <a:ext cx="2834640" cy="64008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886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Arbitrage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307592"/>
            <a:ext cx="256032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relationships between assets are more stable than individual prices. Trade deviations, wait for reversion. Fails when the relationship breaks permanently.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Timescale Rule — Memorise This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THEME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046720" cy="73152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9" name="Shape 7"/>
          <p:cNvSpPr/>
          <p:nvPr/>
        </p:nvSpPr>
        <p:spPr>
          <a:xfrm>
            <a:off x="438912" y="2176272"/>
            <a:ext cx="228600" cy="22860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0" name="Text 8"/>
          <p:cNvSpPr/>
          <p:nvPr/>
        </p:nvSpPr>
        <p:spPr>
          <a:xfrm>
            <a:off x="-91440" y="2487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-274320" y="1463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0" cy="393192"/>
          </a:xfrm>
          <a:prstGeom prst="line">
            <a:avLst/>
          </a:prstGeom>
          <a:noFill/>
          <a:ln w="19050">
            <a:solidFill>
              <a:srgbClr val="0A7E8C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364992" y="2176272"/>
            <a:ext cx="228600" cy="2286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2834640" y="2487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1–12 Months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1463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1783080"/>
            <a:ext cx="0" cy="393192"/>
          </a:xfrm>
          <a:prstGeom prst="line">
            <a:avLst/>
          </a:prstGeom>
          <a:noFill/>
          <a:ln w="19050">
            <a:solidFill>
              <a:srgbClr val="F5A62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473952" y="2176272"/>
            <a:ext cx="228600" cy="228600"/>
          </a:xfrm>
          <a:prstGeom prst="ellipse">
            <a:avLst/>
          </a:prstGeom>
          <a:solidFill>
            <a:srgbClr val="0A7E8C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2487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1463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Reversion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1783080"/>
            <a:ext cx="0" cy="393192"/>
          </a:xfrm>
          <a:prstGeom prst="line">
            <a:avLst/>
          </a:prstGeom>
          <a:noFill/>
          <a:ln w="19050">
            <a:solidFill>
              <a:srgbClr val="0A7E8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14400" y="3017520"/>
            <a:ext cx="73152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3072384"/>
            <a:ext cx="7315200" cy="822960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3072384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328416"/>
            <a:ext cx="7040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market behaves differently at different timescales. A strategy right for monthly data can be wrong for daily data — and wrong for the opposite reason.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Asness, Moskowitz &amp; Pedersen (2013) — 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A7E8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THEME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"Value and Momentum Everywhere"  ·  Journal of Finance, 68(3)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2651760" cy="21945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2651760" cy="6400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188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classes tested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(equities, bonds, FX,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21945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51560"/>
            <a:ext cx="26517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188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–0.49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33756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and value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(natural hedge)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051560"/>
            <a:ext cx="2651760" cy="21945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51560"/>
            <a:ext cx="2651760" cy="64008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1887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Sharpe vs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alone,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8 classes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Why negative correlation?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730752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owns recent winners = expensive stocks.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shorts expensive stocks. They take OPPOSITE sides of the same trade.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crashes, the other recovers — by construction, not by luck.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Momentum Crashes at Market Turning 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THEME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4023360" cy="384048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777240"/>
            <a:ext cx="402336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41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Turning Point (peak)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371600"/>
            <a:ext cx="1005840" cy="27432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(went up most → expensive)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286000"/>
            <a:ext cx="1005840" cy="27432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0020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Defensives, utilities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(went up least → cheap)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023360" cy="384048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777240"/>
            <a:ext cx="4023360" cy="64008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841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Turning Point (recovery)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1371600"/>
            <a:ext cx="1005840" cy="27432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 up → now 'winners')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2286000"/>
            <a:ext cx="1005840" cy="27432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89320" y="22860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Financials, cyclicals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(crashed → now 'losers' 😱)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 the turning point, shorts explode upward. Longs recover slowly. Strategy loses on BOTH sides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 Backtest Lies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A7E8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THEME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502920" cy="109728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2296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822960"/>
            <a:ext cx="79552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9144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Timescale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128016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logic doesn't match the horizon. A 5-day MA crossover isn't momentum — that timescale is mean-reversion territory.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502920" cy="10972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48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" y="2148840"/>
            <a:ext cx="79552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22402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Adjustment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6060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return ≠ net return. STT, brokerage, bid-ask spread, market impact all subtract. A Sharpe of 1.8 can become –0.3 after costs.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502920" cy="109728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47472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68680" y="3474720"/>
            <a:ext cx="795528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35661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9319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100 parameter combinations, reported the best. If 100 random strategies run on the same data, one will show Sharpe 1.8 by pure chance.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7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Cartea, Donnelly &amp; Jaimungal (2018) — "Enhancing Trading Strategies with Order Book Signals"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389120"/>
            <a:ext cx="22860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 Order Book — What It 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A7E8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THEME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4114800" cy="39319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7724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777240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units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234440"/>
            <a:ext cx="4114800" cy="39319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23444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1234440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units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4114800" cy="393192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69164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1691640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units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4114800" cy="393192"/>
          </a:xfrm>
          <a:prstGeom prst="rect">
            <a:avLst/>
          </a:prstGeom>
          <a:solidFill>
            <a:srgbClr val="FFF8E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14884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SPREAD 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2148840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= ₹99.50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606040"/>
            <a:ext cx="4114800" cy="39319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60604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2606040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units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4114800" cy="39319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6324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20240" y="3063240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units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4114800" cy="39319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52044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920240" y="3520440"/>
            <a:ext cx="23774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units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77724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777240"/>
            <a:ext cx="54864" cy="54864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8138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Bid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₹99 — highest anyone will pay RIGHT NOW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1444752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444752"/>
            <a:ext cx="54864" cy="54864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148132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Ask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— lowest anyone will accept RIGHT NOW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2112264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112264"/>
            <a:ext cx="54864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1488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23865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₹100 − ₹99 = ₹1 — cost of immediate trading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2779776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2779776"/>
            <a:ext cx="54864" cy="54864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28163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Mid-price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00600" y="30540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(₹99 + ₹100) / 2 = ₹99.50 — 'fair value'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3447288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3447288"/>
            <a:ext cx="54864" cy="548640"/>
          </a:xfrm>
          <a:prstGeom prst="rect">
            <a:avLst/>
          </a:prstGeom>
          <a:solidFill>
            <a:srgbClr val="7C6AF5"/>
          </a:solidFill>
          <a:ln/>
        </p:spPr>
      </p:sp>
      <p:sp>
        <p:nvSpPr>
          <p:cNvPr id="47" name="Text 45"/>
          <p:cNvSpPr/>
          <p:nvPr/>
        </p:nvSpPr>
        <p:spPr>
          <a:xfrm>
            <a:off x="4800600" y="348386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Order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800600" y="37216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book and waits — provides liquidity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663440" y="4114800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4114800"/>
            <a:ext cx="54864" cy="548640"/>
          </a:xfrm>
          <a:prstGeom prst="rect">
            <a:avLst/>
          </a:prstGeom>
          <a:solidFill>
            <a:srgbClr val="E07830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41513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Order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00600" y="4389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NOW — consumes existing orders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Imbalance — The Formula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THEME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777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  =  (V_bid  −  V_ask)  /  (V_bid  +  V_ask)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91440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920240"/>
            <a:ext cx="274320" cy="274320"/>
          </a:xfrm>
          <a:prstGeom prst="ellipse">
            <a:avLst/>
          </a:prstGeom>
          <a:solidFill>
            <a:srgbClr val="4CAF7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" y="2240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-182880" y="2606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buyers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top of book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Price goes 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1920240"/>
            <a:ext cx="274320" cy="274320"/>
          </a:xfrm>
          <a:prstGeom prst="ellipse">
            <a:avLst/>
          </a:prstGeom>
          <a:solidFill>
            <a:srgbClr val="8FA3B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240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2606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signal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1920240"/>
            <a:ext cx="274320" cy="274320"/>
          </a:xfrm>
          <a:prstGeom prst="ellipse">
            <a:avLst/>
          </a:prstGeom>
          <a:solidFill>
            <a:srgbClr val="E05A5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2402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606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sellers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top of book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Price goes DOWN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example:  V_bid = 1000,  V_ask = 100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 = (1000 − 100) / (1000 + 100) = 900 / 1100 = +0.818 → Strong upward pressure → Buy with market order NOW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Cartea et al. (2018) — Findings &amp; Signal Decay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A7E8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THEME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777240"/>
            <a:ext cx="4114800" cy="64008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86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Predicts next market order direction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307592"/>
            <a:ext cx="38404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OBI is positive, the next market order to arrive is more likely a BUY. Intuition: many buyers are queued up — some will get impatient and trade aggressively.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1148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4114800" cy="6400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886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Predicts short-term price movement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307592"/>
            <a:ext cx="38404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OBI → mid-price tends to drift upward over the next few seconds. Directly tradable. Used to time execution — wait if OBI is negative, act now if strongly positive.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Signal decay — how fast OBI becomes useless: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2240280" cy="50292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sec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3474720"/>
            <a:ext cx="2240280" cy="5029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sec–2 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474720"/>
            <a:ext cx="2240280" cy="502920"/>
          </a:xfrm>
          <a:prstGeom prst="rect">
            <a:avLst/>
          </a:prstGeom>
          <a:solidFill>
            <a:srgbClr val="E0783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3474720"/>
            <a:ext cx="1783080" cy="50292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3474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 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SECONDS-TO-MINUTES signal only. It does not extend to daily or weekly horizons.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7E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Cartea, Jaimungal &amp; Penalva (2015) — Algorithmic &amp; High-Frequency Trading, Ch 1–2, 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389120"/>
            <a:ext cx="2286000" cy="4572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Participants &amp; Why Spreads Exist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A7E8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THEME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2743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777240"/>
            <a:ext cx="2743200" cy="6400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86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Makers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307592"/>
            <a:ext cx="24688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both buy and sell limit orders continuously. Earn the spread. Don't want directional exposure — just want to pocket the difference repeatedly.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777240"/>
            <a:ext cx="2743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777240"/>
            <a:ext cx="2743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886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Traders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1307592"/>
            <a:ext cx="24688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information about where price is going. Trade aggressively (market orders). Every time they trade against a market maker, the MM loses.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777240"/>
            <a:ext cx="274320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777240"/>
            <a:ext cx="2743200" cy="64008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886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Traders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307592"/>
            <a:ext cx="2468880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for liquidity reasons unrelated to price information. Their trades are the market maker's profit source — compensation for losses to informed traders.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841248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200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Glosten &amp; Milgrom (1985) — Why the spread exists: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547872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maker sets the spread so:   Profit from noise traders  ≥  Loss to informed traders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is NOT a fee — it is compensation for the risk of trading against someone who knows more.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Spreads Widen or Narrow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THEME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118872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0" y="914400"/>
            <a:ext cx="731520" cy="41148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0" y="9144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WIDENS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8686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informed traders in the market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280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adverse selection risk — MM loses more often to people who know something.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03120"/>
            <a:ext cx="8412480" cy="118872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80960" y="2240280"/>
            <a:ext cx="1005840" cy="41148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2240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NARROWS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19456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public information available (large-cap, covered by 40 analysts)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6060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information asymmetry — almost everyone knows the fair value.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8412480" cy="118872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3566160"/>
            <a:ext cx="731520" cy="41148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3566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WIDENS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5204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trades rarely (illiquid, small-cap)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gaps between trades = more time for information to accumulate = next trader more likely to know something.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Impact &amp; The Market Maker's Optimal Quote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A7E8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THEME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777240"/>
            <a:ext cx="411480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41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Kyle's Lambda  —  Price Impact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  =  λ × Q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how sensitive price is to order flow.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λ = illiquid market, even small orders move price.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λ = liquid market, large orders absorbed easily.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finding: impact ∝ √Q, not Q (square root law).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114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777240"/>
            <a:ext cx="41148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841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Avellaneda-Stoikov — Optimal Quote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r* = s − q · γ · σ² · (T − t)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00600" y="181051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inventory (+ = long, − = short)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 − t) = time remaining in session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long → r* &lt; mid → skew DOWN to sell inventory.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remaining → skew MORE aggressively.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8412480" cy="16916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26080"/>
            <a:ext cx="84124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99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Microstructure Filter — Do This Before Building ANY Strategy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401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per trade  &gt;  Cost per trade   (spread + market impact)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794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OBI signal earns 0.003% per trade. Round-trip spread = 0.002%. Net = +0.001%. Viable — barely.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trade 80 times/day that's 0.08% daily. But if costs were 0.004%, every trade loses money — no signal quality saves you.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Correlations &amp; Optimal Execution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THEME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4114800" cy="384048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777240"/>
            <a:ext cx="4114800" cy="54864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841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During Crises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12618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7D"/>
                </a:solidFill>
              </a:rPr>
              <a:t>Normal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12618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A5A"/>
                </a:solidFill>
              </a:rPr>
              <a:t>Crisis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Infosys ↔ TCS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7D"/>
                </a:solidFill>
              </a:rPr>
              <a:t>0.75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1600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A5A"/>
                </a:solidFill>
              </a:rPr>
              <a:t>0.98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Infosys ↔ HDFC Bank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377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7D"/>
                </a:solidFill>
              </a:rPr>
              <a:t>0.40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11880" y="2377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A5A"/>
                </a:solidFill>
              </a:rPr>
              <a:t>0.95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Infosys ↔ Gold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AF7D"/>
                </a:solidFill>
              </a:rPr>
              <a:t>0.10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11880" y="3154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A5A"/>
                </a:solidFill>
              </a:rPr>
              <a:t>0.85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977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a crisis EVERYTHING falls together.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across stocks fails.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across STRATEGY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(momentum + value) is structural — survives.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777240"/>
            <a:ext cx="4114800" cy="384048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777240"/>
            <a:ext cx="4114800" cy="54864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8412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Execution — Almgren &amp; Chriss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12984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Tradeoff: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Fast execution → high impact, low price risk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Slow execution → low impact, high price risk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2286000"/>
            <a:ext cx="384048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2286000"/>
            <a:ext cx="64008" cy="1005840"/>
          </a:xfrm>
          <a:prstGeom prst="rect">
            <a:avLst/>
          </a:prstGeom>
          <a:solidFill>
            <a:srgbClr val="12B5C5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3591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B5C5"/>
                </a:solidFill>
              </a:rPr>
              <a:t>TWAP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806440" y="2359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Time-Weighted Average Price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2743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Trade equal chunks every time interval. Simple, predictable.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3474720"/>
            <a:ext cx="384048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0600" y="3474720"/>
            <a:ext cx="64008" cy="10058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5478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VWAP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806440" y="3547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Volume-Weighted Average Price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39319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1"/>
                </a:solidFill>
              </a:rPr>
              <a:t>Trade proportional to market volume each interval. Trade more when book is deepest.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Three Themes Connect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0A7E8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DEPENDENCIES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777240"/>
            <a:ext cx="64008" cy="123444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8503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level: MONTHS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1247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— Classical Strategies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14356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price patterns persist over time?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143560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Momentum and value — across all asset classes — by exploiting behavioural biases and risk premia.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30552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130552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037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level: SECONDS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4780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— Pattern Detection (OBI)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patterns exist inside the order book right now?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78892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OBI — detecting informed order flow before it fully moves the price. Dead by 5 minutes.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83864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83864"/>
            <a:ext cx="64008" cy="123444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57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level: ALWAYS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8313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— Market Structure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414223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 any of these patterns exist at all?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414223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Because traders have different information and constraints. Spreads, impact, and inventory create the patterns that Themes 1 &amp; 2 exploit.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Themes 1–3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498080" y="109728"/>
            <a:ext cx="141732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0" y="10972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SUMMARY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344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Phase 1 Literature Review · Kartik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4114800" cy="123444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777240"/>
            <a:ext cx="64008" cy="123444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" y="886968"/>
            <a:ext cx="384048" cy="3840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886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868680"/>
            <a:ext cx="3401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 = reversion · 1–12 months = momentum · Long term = reversion. Same market, different phenomena.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114800" cy="123444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777240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Shape 13"/>
          <p:cNvSpPr/>
          <p:nvPr/>
        </p:nvSpPr>
        <p:spPr>
          <a:xfrm>
            <a:off x="4864608" y="886968"/>
            <a:ext cx="384048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886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868680"/>
            <a:ext cx="3401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&amp; value are negatively correlated by construction — they are natural hedges and should be combined.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130552"/>
            <a:ext cx="4114800" cy="123444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30552"/>
            <a:ext cx="64008" cy="1234440"/>
          </a:xfrm>
          <a:prstGeom prst="rect">
            <a:avLst/>
          </a:prstGeom>
          <a:solidFill>
            <a:srgbClr val="12B5C5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" y="2240280"/>
            <a:ext cx="384048" cy="384048"/>
          </a:xfrm>
          <a:prstGeom prst="rect">
            <a:avLst/>
          </a:prstGeom>
          <a:solidFill>
            <a:srgbClr val="12B5C5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2221992"/>
            <a:ext cx="3401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 predicts price in seconds. Dead by 5 minutes. The signal exists because market makers react to perceived informed flow.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130552"/>
            <a:ext cx="4114800" cy="123444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130552"/>
            <a:ext cx="64008" cy="1234440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5" name="Shape 23"/>
          <p:cNvSpPr/>
          <p:nvPr/>
        </p:nvSpPr>
        <p:spPr>
          <a:xfrm>
            <a:off x="4864608" y="2240280"/>
            <a:ext cx="384048" cy="384048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2221992"/>
            <a:ext cx="3401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is adverse selection insurance, not a fee. Wide spread = more informed traders or thinner market.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483864"/>
            <a:ext cx="4114800" cy="123444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483864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" y="3593592"/>
            <a:ext cx="384048" cy="3840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0120" y="3575304"/>
            <a:ext cx="3401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per trade must exceed cost per trade — calculate this before coding anything.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483864"/>
            <a:ext cx="4114800" cy="1234440"/>
          </a:xfrm>
          <a:prstGeom prst="rect">
            <a:avLst/>
          </a:prstGeom>
          <a:solidFill>
            <a:srgbClr val="13223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483864"/>
            <a:ext cx="64008" cy="1234440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35" name="Shape 33"/>
          <p:cNvSpPr/>
          <p:nvPr/>
        </p:nvSpPr>
        <p:spPr>
          <a:xfrm>
            <a:off x="4864608" y="3593592"/>
            <a:ext cx="384048" cy="384048"/>
          </a:xfrm>
          <a:prstGeom prst="rect">
            <a:avLst/>
          </a:prstGeom>
          <a:solidFill>
            <a:srgbClr val="E05A5A"/>
          </a:solidFill>
          <a:ln/>
        </p:spPr>
      </p:sp>
      <p:sp>
        <p:nvSpPr>
          <p:cNvPr id="36" name="Text 34"/>
          <p:cNvSpPr/>
          <p:nvPr/>
        </p:nvSpPr>
        <p:spPr>
          <a:xfrm>
            <a:off x="4864608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3575304"/>
            <a:ext cx="34015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crises, all stock correlations spike to ~1. Diversify across strategy types, not just stocks.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 Literature Review — Themes 1–3</dc:title>
  <dc:subject>PptxGenJS Presentation</dc:subject>
  <dc:creator>Kartik</dc:creator>
  <cp:lastModifiedBy>Kartik</cp:lastModifiedBy>
  <cp:revision>1</cp:revision>
  <dcterms:created xsi:type="dcterms:W3CDTF">2026-06-04T14:00:04Z</dcterms:created>
  <dcterms:modified xsi:type="dcterms:W3CDTF">2026-06-04T14:00:04Z</dcterms:modified>
</cp:coreProperties>
</file>