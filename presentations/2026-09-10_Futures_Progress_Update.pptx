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solidFill>
              <a:srgbClr val="3E9D8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22A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42 bps
(full)</c:v>
                  </c:pt>
                  <c:pt idx="1">
                    <c:v>32</c:v>
                  </c:pt>
                  <c:pt idx="2">
                    <c:v>26</c:v>
                  </c:pt>
                  <c:pt idx="3">
                    <c:v>22
(STT only)</c:v>
                  </c:pt>
                  <c:pt idx="4">
                    <c:v>15</c:v>
                  </c:pt>
                  <c:pt idx="5">
                    <c:v>10
(futures)</c:v>
                  </c:pt>
                  <c:pt idx="6">
                    <c:v>4</c:v>
                  </c:pt>
                  <c:pt idx="7">
                    <c:v>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-0.56</c:v>
                </c:pt>
                <c:pt idx="1">
                  <c:v>-0.32</c:v>
                </c:pt>
                <c:pt idx="2">
                  <c:v>-0.16</c:v>
                </c:pt>
                <c:pt idx="3">
                  <c:v>-0.07</c:v>
                </c:pt>
                <c:pt idx="4">
                  <c:v>0.08</c:v>
                </c:pt>
                <c:pt idx="5">
                  <c:v>0.22</c:v>
                </c:pt>
                <c:pt idx="6">
                  <c:v>0.36</c:v>
                </c:pt>
                <c:pt idx="7">
                  <c:v>0.46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2222A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5B58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7"/>
        </c:scaling>
        <c:delete val="0"/>
        <c:axPos val="l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C5B5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C5B58"/>
                    </a:solidFill>
                    <a:latin typeface="Arial"/>
                  </a:rPr>
                  <a:t>Annualized Sharpe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5B58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E9D8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828800"/>
            <a:ext cx="5120640" cy="5120640"/>
          </a:xfrm>
          <a:prstGeom prst="ellipse">
            <a:avLst/>
          </a:prstGeom>
          <a:solidFill>
            <a:srgbClr val="3E9D8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731520"/>
            <a:ext cx="2743200" cy="2743200"/>
          </a:xfrm>
          <a:prstGeom prst="ellipse">
            <a:avLst/>
          </a:prstGeom>
          <a:solidFill>
            <a:srgbClr val="8AB2A6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SURP 2026  ·  PROGRESS UPDATE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PCA-RESIDUAL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STATISTICAL ARBITRAGE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equities complete  ·  Futures extension built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41248" y="4572000"/>
            <a:ext cx="2743200" cy="0"/>
          </a:xfrm>
          <a:prstGeom prst="line">
            <a:avLst/>
          </a:prstGeom>
          <a:noFill/>
          <a:ln w="31750">
            <a:solidFill>
              <a:srgbClr val="3E9D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Kartikya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3rd-Year, IEOR · IIT Bombay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A — Strategy Design    |    Guide: Prof. Sandip Mondal (EE, IIT Bombay)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 · COMPLETE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CASH EQUITIES: THE EDGE DIES ON COST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931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47088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+0.46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254203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Zero-cost Sharpe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798064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bare signal has real edge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98848" y="1737360"/>
            <a:ext cx="363931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1847088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0504D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−0.56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91456" y="254203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Full-cost Sharpe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91456" y="2798064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realistic Indian costs erase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49056" y="1737360"/>
            <a:ext cx="3639312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23376" y="1847088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98A2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₹6.15 L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741664" y="2542032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costs paid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41664" y="2798064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≈ 2× the gross edge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429000"/>
          <a:ext cx="69494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726680" y="3429000"/>
            <a:ext cx="3931920" cy="2606040"/>
          </a:xfrm>
          <a:prstGeom prst="roundRect">
            <a:avLst>
              <a:gd name="adj" fmla="val 2105"/>
            </a:avLst>
          </a:prstGeom>
          <a:solidFill>
            <a:srgbClr val="0A0D1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73568" y="3639312"/>
            <a:ext cx="475488" cy="475488"/>
          </a:xfrm>
          <a:prstGeom prst="ellipse">
            <a:avLst/>
          </a:prstGeom>
          <a:solidFill>
            <a:srgbClr val="D98A2B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195" y="3762939"/>
            <a:ext cx="228234" cy="22823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595360" y="365760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98A2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STRUCTURAL WALL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7973568" y="42062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30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Break-even ≈ 18–20 bps</a:t>
            </a:r>
            <a:endParaRPr lang="en-US" sz="1400" dirty="0"/>
          </a:p>
          <a:p>
            <a:pPr indent="0" marL="0">
              <a:lnSpc>
                <a:spcPct val="113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India's STT floor alone is ~22 bps round-trip — a government tax, unavoidable at any execution quality.</a:t>
            </a:r>
            <a:endParaRPr lang="en-US" sz="140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00" b="1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Untradable in cash equities. Positive only below ~15 bps — i.e. futures.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IT WORKS, IN FIVE STEPS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0996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29384"/>
            <a:ext cx="457200" cy="457200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29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89888" y="1837944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DECOMPOSE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79392" y="1837944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PCA on ~120 liquid names' daily returns. The top 5 factors capture what all stocks share — the market (~39% of variance) and sector blocks.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110996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79776"/>
            <a:ext cx="457200" cy="457200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89888" y="2688336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RESIDUAL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79392" y="2688336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Regress each stock on those factors and subtract. What's left is the stock's own move, with market and sector stripped out.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1110996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630168"/>
            <a:ext cx="457200" cy="457200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89888" y="3538728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SIGNAL (s-SCORE)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79392" y="3538728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Cumulate the residual, fit a mean-reversion (OU) model, and standardize: how many std-devs is this name from its own equilibrium?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110996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480560"/>
            <a:ext cx="457200" cy="457200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89888" y="4389120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TRADE, MARKET-NEUTRAL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79392" y="4389120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 s &gt; +2 (rich), long s &lt; −2 (cheap), longs balanced against shorts. Betting on relative mispricing correcting, not market direction.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84648"/>
            <a:ext cx="11109960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5330952"/>
            <a:ext cx="457200" cy="457200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89888" y="5239512"/>
            <a:ext cx="2788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SIZE &amp; EXIT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79392" y="5239512"/>
            <a:ext cx="7223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Inverse-volatility sizing, gross capped at 100%. Exit on triple-barrier: reverts (profit), diverges past 3σ (stop), or 15 days (stale).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071616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Faithful implementation of Avellaneda–Lee (2010) — parameters at literature defaults, deliberately not tuned.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II · THE ADAPTATION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CHANGED FOR FUTURES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1109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signal is identical — same PCA, same s-score, same thresholds. Only the instrument and its mechanics change, so the comparison isolates cost.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404872"/>
            <a:ext cx="502920" cy="502920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007" y="253563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9616" y="238658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CONTRACTS EXPIRE — SO WE ROLL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59536" y="30632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Futures expire monthly. Two trading days before expiry we close the near contract and open the next: two real trades, both charged. Positions carry across with P&amp;L intact.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0" y="21488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93408" y="2404872"/>
            <a:ext cx="502920" cy="502920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167" y="253563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51776" y="238658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WHOLE LOTS, NOT SHARES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711696" y="30632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futures position is an integer number of lots, not any rupee amount. Sizing floors to whole lots and skips a name if one lot breaches the 5% cap. Capital set to ₹10 cr so lots fit.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370832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4626864"/>
            <a:ext cx="502920" cy="502920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" y="4757623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99616" y="460857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TWO VIEWS OF THE SAME MARKET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59536" y="528523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Signal reads a back-adjusted continuous series (roll gaps removed, so PCA sees clean returns). Fills happen on the real front-month contract at its own price.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0" y="4370832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93408" y="4626864"/>
            <a:ext cx="502920" cy="502920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167" y="4757623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51776" y="460857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COSTS ~4× LOWER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711696" y="5285232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STT 0.02% sell-side only, plus exchange, stamp, GST, brokerage and slippage. All-in ≈ 4–5 bps per side, against ~42 bps round-trip in cash.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E9D8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2103120"/>
            <a:ext cx="5486400" cy="5486400"/>
          </a:xfrm>
          <a:prstGeom prst="ellipse">
            <a:avLst/>
          </a:prstGeom>
          <a:solidFill>
            <a:srgbClr val="3E9D8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217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WE STAND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BUILT AND VALIDATED —</a:t>
            </a:r>
            <a:endParaRPr lang="en-US" sz="3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BACKTEST IS ALL THAT REMAINS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77240" y="2395728"/>
            <a:ext cx="10881360" cy="932688"/>
          </a:xfrm>
          <a:prstGeom prst="roundRect">
            <a:avLst>
              <a:gd name="adj" fmla="val 4902"/>
            </a:avLst>
          </a:prstGeom>
          <a:solidFill>
            <a:srgbClr val="14201C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596896"/>
            <a:ext cx="512064" cy="512064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265" y="2730033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523744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DATA PIPELINE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83080" y="283464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2,468 trading days of NSE F&amp;O bhavcopy. Point-in-time universe, continuous contracts, corporate actions. Futures track cash at 0.990 correlation.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442448" y="2651760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3E9D81"/>
          </a:solidFill>
          <a:ln/>
        </p:spPr>
      </p:sp>
      <p:sp>
        <p:nvSpPr>
          <p:cNvPr id="12" name="Text 9"/>
          <p:cNvSpPr/>
          <p:nvPr/>
        </p:nvSpPr>
        <p:spPr>
          <a:xfrm>
            <a:off x="10442448" y="26517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77240" y="3383280"/>
            <a:ext cx="10881360" cy="932688"/>
          </a:xfrm>
          <a:prstGeom prst="roundRect">
            <a:avLst>
              <a:gd name="adj" fmla="val 4902"/>
            </a:avLst>
          </a:prstGeom>
          <a:solidFill>
            <a:srgbClr val="14201C"/>
          </a:solidFill>
          <a:ln/>
        </p:spPr>
      </p:sp>
      <p:sp>
        <p:nvSpPr>
          <p:cNvPr id="14" name="Shape 11"/>
          <p:cNvSpPr/>
          <p:nvPr/>
        </p:nvSpPr>
        <p:spPr>
          <a:xfrm>
            <a:off x="1024128" y="3584448"/>
            <a:ext cx="512064" cy="512064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65" y="3717585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83080" y="3511296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STRATEGY PORTED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783080" y="382219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signal running on futures with whole lots, real contracts and monthly rolls. Every fill lands on a real contract; zero-cost mode charges exactly zero.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442448" y="3639312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3E9D81"/>
          </a:solidFill>
          <a:ln/>
        </p:spPr>
      </p:sp>
      <p:sp>
        <p:nvSpPr>
          <p:cNvPr id="19" name="Text 15"/>
          <p:cNvSpPr/>
          <p:nvPr/>
        </p:nvSpPr>
        <p:spPr>
          <a:xfrm>
            <a:off x="10442448" y="36393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77240" y="4370832"/>
            <a:ext cx="10881360" cy="932688"/>
          </a:xfrm>
          <a:prstGeom prst="roundRect">
            <a:avLst>
              <a:gd name="adj" fmla="val 4902"/>
            </a:avLst>
          </a:prstGeom>
          <a:solidFill>
            <a:srgbClr val="14201C"/>
          </a:solidFill>
          <a:ln/>
        </p:spPr>
      </p:sp>
      <p:sp>
        <p:nvSpPr>
          <p:cNvPr id="21" name="Shape 17"/>
          <p:cNvSpPr/>
          <p:nvPr/>
        </p:nvSpPr>
        <p:spPr>
          <a:xfrm>
            <a:off x="1024128" y="4572000"/>
            <a:ext cx="512064" cy="512064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65" y="4705137"/>
            <a:ext cx="245791" cy="24579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83080" y="4498848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HARNESS VALIDATED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783080" y="4809744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Known-answer tests pass with lots and rolls active: reversion +117%, random walk +1%, momentum −41%, flipped +62%. Equity reconstructs to 1e-15.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0442448" y="4626864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3E9D81"/>
          </a:solidFill>
          <a:ln/>
        </p:spPr>
      </p:sp>
      <p:sp>
        <p:nvSpPr>
          <p:cNvPr id="26" name="Text 21"/>
          <p:cNvSpPr/>
          <p:nvPr/>
        </p:nvSpPr>
        <p:spPr>
          <a:xfrm>
            <a:off x="10442448" y="46268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DONE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77240" y="5358384"/>
            <a:ext cx="10881360" cy="932688"/>
          </a:xfrm>
          <a:prstGeom prst="roundRect">
            <a:avLst>
              <a:gd name="adj" fmla="val 4902"/>
            </a:avLst>
          </a:prstGeom>
          <a:solidFill>
            <a:srgbClr val="14201C"/>
          </a:solidFill>
          <a:ln/>
        </p:spPr>
      </p:sp>
      <p:sp>
        <p:nvSpPr>
          <p:cNvPr id="28" name="Shape 23"/>
          <p:cNvSpPr/>
          <p:nvPr/>
        </p:nvSpPr>
        <p:spPr>
          <a:xfrm>
            <a:off x="1024128" y="5559552"/>
            <a:ext cx="512064" cy="512064"/>
          </a:xfrm>
          <a:prstGeom prst="ellipse">
            <a:avLst/>
          </a:prstGeom>
          <a:solidFill>
            <a:srgbClr val="D98A2B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265" y="5692689"/>
            <a:ext cx="245791" cy="24579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783080" y="548640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BACKTEST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783080" y="57972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Full-cost vs zero-cost over 2015–2024, plus the out-of-sample reversion test. Running now — the first actual result of the futures study.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10442448" y="5614416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D98A2B"/>
          </a:solidFill>
          <a:ln/>
        </p:spPr>
      </p:sp>
      <p:sp>
        <p:nvSpPr>
          <p:cNvPr id="33" name="Text 27"/>
          <p:cNvSpPr/>
          <p:nvPr/>
        </p:nvSpPr>
        <p:spPr>
          <a:xfrm>
            <a:off x="10442448" y="561441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D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RUNNING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777240" y="6473952"/>
            <a:ext cx="10881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Seven data and logic bugs caught and fixed by the validation gates before any result was produced.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PCA-Residual Stat Arb — Futures Extension</dc:title>
  <dc:subject>PptxGenJS Presentation</dc:subject>
  <dc:creator>Kartikya</dc:creator>
  <cp:lastModifiedBy>Kartikya</cp:lastModifiedBy>
  <cp:revision>1</cp:revision>
  <dcterms:created xsi:type="dcterms:W3CDTF">2026-09-10T15:15:26Z</dcterms:created>
  <dcterms:modified xsi:type="dcterms:W3CDTF">2026-09-10T15:15:26Z</dcterms:modified>
</cp:coreProperties>
</file>