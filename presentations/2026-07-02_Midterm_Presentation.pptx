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Zero-cost (bare signal)</c:v>
                </c:pt>
              </c:strCache>
            </c:strRef>
          </c:tx>
          <c:spPr>
            <a:solidFill>
              <a:srgbClr val="2BB673"/>
            </a:solidFill>
            <a:ln w="38100" cap="flat">
              <a:solidFill>
                <a:srgbClr val="2BB6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B673"/>
              </a:solidFill>
              <a:ln w="9525" cap="flat">
                <a:solidFill>
                  <a:srgbClr val="2BB6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2015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>2016</c:v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2018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>2019</c:v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2020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2022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2023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4.46</c:v>
                </c:pt>
                <c:pt idx="2">
                  <c:v>3.5</c:v>
                </c:pt>
                <c:pt idx="3">
                  <c:v>4.07</c:v>
                </c:pt>
                <c:pt idx="4">
                  <c:v>6.04</c:v>
                </c:pt>
                <c:pt idx="5">
                  <c:v>2.92</c:v>
                </c:pt>
                <c:pt idx="6">
                  <c:v>0.67</c:v>
                </c:pt>
                <c:pt idx="7">
                  <c:v>4.02</c:v>
                </c:pt>
                <c:pt idx="8">
                  <c:v>5.56</c:v>
                </c:pt>
                <c:pt idx="9">
                  <c:v>5.68</c:v>
                </c:pt>
                <c:pt idx="10">
                  <c:v>10.47</c:v>
                </c:pt>
                <c:pt idx="11">
                  <c:v>13.61</c:v>
                </c:pt>
                <c:pt idx="12">
                  <c:v>11.13</c:v>
                </c:pt>
                <c:pt idx="13">
                  <c:v>10.89</c:v>
                </c:pt>
                <c:pt idx="14">
                  <c:v>12.21</c:v>
                </c:pt>
                <c:pt idx="15">
                  <c:v>9.3</c:v>
                </c:pt>
                <c:pt idx="16">
                  <c:v>8.69</c:v>
                </c:pt>
                <c:pt idx="17">
                  <c:v>13.52</c:v>
                </c:pt>
                <c:pt idx="18">
                  <c:v>15.54</c:v>
                </c:pt>
                <c:pt idx="19">
                  <c:v>15.84</c:v>
                </c:pt>
                <c:pt idx="20">
                  <c:v>19.96</c:v>
                </c:pt>
                <c:pt idx="21">
                  <c:v>21.26</c:v>
                </c:pt>
                <c:pt idx="22">
                  <c:v>17.53</c:v>
                </c:pt>
                <c:pt idx="23">
                  <c:v>17.27</c:v>
                </c:pt>
                <c:pt idx="24">
                  <c:v>18.88</c:v>
                </c:pt>
                <c:pt idx="25">
                  <c:v>16.97</c:v>
                </c:pt>
                <c:pt idx="26">
                  <c:v>18.2</c:v>
                </c:pt>
                <c:pt idx="27">
                  <c:v>23.91</c:v>
                </c:pt>
                <c:pt idx="28">
                  <c:v>25.45</c:v>
                </c:pt>
                <c:pt idx="29">
                  <c:v>25.04</c:v>
                </c:pt>
                <c:pt idx="30">
                  <c:v>27.97</c:v>
                </c:pt>
                <c:pt idx="31">
                  <c:v>27.64</c:v>
                </c:pt>
                <c:pt idx="32">
                  <c:v>23.52</c:v>
                </c:pt>
                <c:pt idx="33">
                  <c:v>24.22</c:v>
                </c:pt>
                <c:pt idx="34">
                  <c:v>26.81</c:v>
                </c:pt>
                <c:pt idx="35">
                  <c:v>26.11</c:v>
                </c:pt>
                <c:pt idx="36">
                  <c:v>28.63</c:v>
                </c:pt>
                <c:pt idx="37">
                  <c:v>34.18</c:v>
                </c:pt>
                <c:pt idx="38">
                  <c:v>34.34</c:v>
                </c:pt>
                <c:pt idx="39">
                  <c:v>32.83</c:v>
                </c:pt>
                <c:pt idx="40">
                  <c:v>34.73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Full-cost (realistic)</c:v>
                </c:pt>
              </c:strCache>
            </c:strRef>
          </c:tx>
          <c:spPr>
            <a:solidFill>
              <a:srgbClr val="E8613A"/>
            </a:solidFill>
            <a:ln w="38100" cap="flat">
              <a:solidFill>
                <a:srgbClr val="E861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13A"/>
              </a:solidFill>
              <a:ln w="9525" cap="flat">
                <a:solidFill>
                  <a:srgbClr val="E861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2015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>2016</c:v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2018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>2019</c:v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2020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2022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2023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</c:lvl>
              </c:multiLvlStrCache>
            </c:multiLvl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0</c:v>
                </c:pt>
                <c:pt idx="1">
                  <c:v>2.45</c:v>
                </c:pt>
                <c:pt idx="2">
                  <c:v>0.02</c:v>
                </c:pt>
                <c:pt idx="3">
                  <c:v>-1.03</c:v>
                </c:pt>
                <c:pt idx="4">
                  <c:v>-0.82</c:v>
                </c:pt>
                <c:pt idx="5">
                  <c:v>-5.18</c:v>
                </c:pt>
                <c:pt idx="6">
                  <c:v>-8.78</c:v>
                </c:pt>
                <c:pt idx="7">
                  <c:v>-7.33</c:v>
                </c:pt>
                <c:pt idx="8">
                  <c:v>-7.5</c:v>
                </c:pt>
                <c:pt idx="9">
                  <c:v>-8.95</c:v>
                </c:pt>
                <c:pt idx="10">
                  <c:v>-6.21</c:v>
                </c:pt>
                <c:pt idx="11">
                  <c:v>-4.94</c:v>
                </c:pt>
                <c:pt idx="12">
                  <c:v>-8.73</c:v>
                </c:pt>
                <c:pt idx="13">
                  <c:v>-10.51</c:v>
                </c:pt>
                <c:pt idx="14">
                  <c:v>-10.89</c:v>
                </c:pt>
                <c:pt idx="15">
                  <c:v>-15.08</c:v>
                </c:pt>
                <c:pt idx="16">
                  <c:v>-17.18</c:v>
                </c:pt>
                <c:pt idx="17">
                  <c:v>-14.4</c:v>
                </c:pt>
                <c:pt idx="18">
                  <c:v>-14.15</c:v>
                </c:pt>
                <c:pt idx="19">
                  <c:v>-15.44</c:v>
                </c:pt>
                <c:pt idx="20">
                  <c:v>-13.3</c:v>
                </c:pt>
                <c:pt idx="21">
                  <c:v>-13.68</c:v>
                </c:pt>
                <c:pt idx="22">
                  <c:v>-18.6</c:v>
                </c:pt>
                <c:pt idx="23">
                  <c:v>-20.4</c:v>
                </c:pt>
                <c:pt idx="24">
                  <c:v>-20.52</c:v>
                </c:pt>
                <c:pt idx="25">
                  <c:v>-23.79</c:v>
                </c:pt>
                <c:pt idx="26">
                  <c:v>-24.25</c:v>
                </c:pt>
                <c:pt idx="27">
                  <c:v>-20.68</c:v>
                </c:pt>
                <c:pt idx="28">
                  <c:v>-20.86</c:v>
                </c:pt>
                <c:pt idx="29">
                  <c:v>-22.78</c:v>
                </c:pt>
                <c:pt idx="30">
                  <c:v>-21.71</c:v>
                </c:pt>
                <c:pt idx="31">
                  <c:v>-23.57</c:v>
                </c:pt>
                <c:pt idx="32">
                  <c:v>-28.84</c:v>
                </c:pt>
                <c:pt idx="33">
                  <c:v>-29.77</c:v>
                </c:pt>
                <c:pt idx="34">
                  <c:v>-29</c:v>
                </c:pt>
                <c:pt idx="35">
                  <c:v>-31.2</c:v>
                </c:pt>
                <c:pt idx="36">
                  <c:v>-30.49</c:v>
                </c:pt>
                <c:pt idx="37">
                  <c:v>-27.06</c:v>
                </c:pt>
                <c:pt idx="38">
                  <c:v>-28.48</c:v>
                </c:pt>
                <c:pt idx="39">
                  <c:v>-31.4</c:v>
                </c:pt>
                <c:pt idx="40">
                  <c:v>-31.25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-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0"/>
                    </a:solidFill>
                    <a:latin typeface="Arial"/>
                  </a:rPr>
                  <a:t>Cumulative return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234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</c:v>
                </c:pt>
              </c:strCache>
            </c:strRef>
          </c:tx>
          <c:spPr>
            <a:solidFill>
              <a:srgbClr val="0EA5A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3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42 bps
(full)</c:v>
                  </c:pt>
                  <c:pt idx="1">
                    <c:v>32 bps</c:v>
                  </c:pt>
                  <c:pt idx="2">
                    <c:v>26 bps</c:v>
                  </c:pt>
                  <c:pt idx="3">
                    <c:v>22 bps
(STT only)</c:v>
                  </c:pt>
                  <c:pt idx="4">
                    <c:v>15 bps</c:v>
                  </c:pt>
                  <c:pt idx="5">
                    <c:v>10 bps
(futures)</c:v>
                  </c:pt>
                  <c:pt idx="6">
                    <c:v>4 bps</c:v>
                  </c:pt>
                  <c:pt idx="7">
                    <c:v>0 bps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-0.56</c:v>
                </c:pt>
                <c:pt idx="1">
                  <c:v>-0.32</c:v>
                </c:pt>
                <c:pt idx="2">
                  <c:v>-0.16</c:v>
                </c:pt>
                <c:pt idx="3">
                  <c:v>-0.07</c:v>
                </c:pt>
                <c:pt idx="4">
                  <c:v>0.08</c:v>
                </c:pt>
                <c:pt idx="5">
                  <c:v>0.22</c:v>
                </c:pt>
                <c:pt idx="6">
                  <c:v>0.36</c:v>
                </c:pt>
                <c:pt idx="7">
                  <c:v>0.46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23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0"/>
                    </a:solidFill>
                    <a:latin typeface="Arial"/>
                  </a:rPr>
                  <a:t>Annualized Sharpe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C7B7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914400"/>
            <a:ext cx="3200400" cy="3200400"/>
          </a:xfrm>
          <a:prstGeom prst="ellipse">
            <a:avLst/>
          </a:prstGeom>
          <a:solidFill>
            <a:srgbClr val="0EA5A4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 2026  ·  MIDTERM PROGRESS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PCA-Residual Statistical Arbitrage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Indian Equities &amp; Futures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rigorous, cost-aware study of whether cross-sectional mean-reversion survives real transaction costs — and where a tradable edge might actually live.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5074920"/>
            <a:ext cx="2926080" cy="0"/>
          </a:xfrm>
          <a:prstGeom prst="line">
            <a:avLst/>
          </a:prstGeom>
          <a:noFill/>
          <a:ln w="25400">
            <a:solidFill>
              <a:srgbClr val="0EA5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57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Kartikya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C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3rd-Year, Industrial Engineering &amp; Operations Research, IIT Bombay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C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 — Strategy Design   ·   Guide: Prof. Sandip Mondal (EE, IIT Bombay)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92808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2028871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110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25603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honestly evaluate a market-neutral statistical-arbitrage strategy for Indian markets — not just chase a good-looking backtest.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892808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463" y="202887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110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56832" y="25603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strips common market/sector factors from returns; we trade the mean-reversion of the leftover stock-specific residual.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57200" y="406908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361688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449775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37997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Discipline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Indian costs, out-of-sample tests, known-answer validation. Every result independently cross-checked.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406908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361688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463" y="449775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37997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56832" y="50292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equities studied end-to-end (complete). Now extending the same strategy to single-stock futures.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PCA-Residual Statistical Arbitrage  ·  SURP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PCA-residual mean-reversion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92224"/>
            <a:ext cx="457200" cy="45720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0195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7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Decompose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297680" y="1691640"/>
            <a:ext cx="7178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PCA on ~200 liquid stocks' daily returns to extract common factors (market, sectors) — the forces all stocks share.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50545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7614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5117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7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Residual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297680" y="2551176"/>
            <a:ext cx="7178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factor-explained part from each stock's return. What's left is its own idiosyncratic move.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36499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511296"/>
            <a:ext cx="457200" cy="45720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2102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41071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7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Signal (s-score)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297680" y="3410712"/>
            <a:ext cx="7178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the residual: how many std-devs is this stock from normal? High = 'rich', low = 'cheap'.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22452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370832"/>
            <a:ext cx="457200" cy="45720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48056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2702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7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Trade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297680" y="4270248"/>
            <a:ext cx="7178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the rich (s &gt; +2), long the cheap (s &lt; −2), dollar-neutral. Bet only on relative reversion, not market direction.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08406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230368"/>
            <a:ext cx="457200" cy="45720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34009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12978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7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Size &amp; Exit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297680" y="5129784"/>
            <a:ext cx="7178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Inverse-volatility sizing, gross capped ~100%. Exit on triple-barrier: revert (profit), diverge (stop), or 15-day time-stop.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48640" y="59618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implementation of the Avellaneda–Lee (2010) framework — parameters kept at literature defaults, deliberately not tuned.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PCA-Residual Statistical Arbitrage  ·  SURP 2026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C7B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Cash-Equity Study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 of real NSE data · 435 stocks · 2015–2024 · fully realistic Indian costs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4663440"/>
            <a:ext cx="640080" cy="64008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" y="481705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experimental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46504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2,466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697480" y="1746504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 (2015–2024)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843784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97480" y="2843784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stocks (cleaned universe)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41064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97480" y="3941064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traded daily, ranked by liquidity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038344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 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697480" y="5038344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capital, ~100% gross cap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EA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7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realism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OHLCV via yfinance — splits &amp; dividends handled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Look-ahead-safe: signal from day T close → trade T+1 open → mark at T+1 close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Indian cost model: STT + slippage + brokerage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IPOs handled correctly (excluded until listed) — no phantom trades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in Python: signal → decision → execution → P&amp;L harness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PCA-Residual Statistical Arbitrage  ·  SURP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HEADLINE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has edge — costs erase it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406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78308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0" y="19019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+32.9%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41248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return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0" y="27157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+0.46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183880" y="320040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0" y="331927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−32.9%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412480" y="3886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Full-cost return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12480" y="41330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−0.56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83880" y="461772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12480" y="473659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₹6.15 L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412480" y="5303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costs paid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412480" y="55504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~7,200 trades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PCA-Residual Statistical Arbitrage  ·  SURP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THE DECISIVE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fails: the tax alone beats the edge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1323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691640"/>
            <a:ext cx="3703320" cy="4251960"/>
          </a:xfrm>
          <a:prstGeom prst="roundRect">
            <a:avLst>
              <a:gd name="adj" fmla="val 1975"/>
            </a:avLst>
          </a:prstGeom>
          <a:solidFill>
            <a:srgbClr val="FBF1E2"/>
          </a:solidFill>
          <a:ln/>
        </p:spPr>
      </p:sp>
      <p:sp>
        <p:nvSpPr>
          <p:cNvPr id="6" name="Shape 3"/>
          <p:cNvSpPr/>
          <p:nvPr/>
        </p:nvSpPr>
        <p:spPr>
          <a:xfrm>
            <a:off x="8138160" y="1920240"/>
            <a:ext cx="502920" cy="50292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861" y="2040941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8240" y="1938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5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structural wall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138160" y="251460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≈ 18–20 bps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India's STT floor alone is ~22 bps round-trip — a government tax you cannot avoid.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'STT only' (zero slippage), the strategy is already negative.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Untradable in cash equities under any execution — but positive in a low-cost (futures) regime.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PCA-Residual Statistical Arbitrage  ·  SURP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STATISTICAL VALIDITY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reversion real? Out-of-sample says yes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froze the PCA factors on past data and tested whether today's s-score predicts FUTURE residual returns (Fama–MacBeth). Over 10 years, the effect is small but statistically significant at every horizon.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7040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37160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t-statistic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−2.35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days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−2.71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331720"/>
            <a:ext cx="7040880" cy="457200"/>
          </a:xfrm>
          <a:prstGeom prst="rect">
            <a:avLst/>
          </a:prstGeom>
          <a:solidFill>
            <a:srgbClr val="0C7B7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10312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5760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0936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09560" y="1874520"/>
            <a:ext cx="3703320" cy="4069080"/>
          </a:xfrm>
          <a:prstGeom prst="roundRect">
            <a:avLst>
              <a:gd name="adj" fmla="val 1975"/>
            </a:avLst>
          </a:prstGeom>
          <a:solidFill>
            <a:srgbClr val="EAF6F5"/>
          </a:solidFill>
          <a:ln/>
        </p:spPr>
      </p:sp>
      <p:sp>
        <p:nvSpPr>
          <p:cNvPr id="13" name="Shape 10"/>
          <p:cNvSpPr/>
          <p:nvPr/>
        </p:nvSpPr>
        <p:spPr>
          <a:xfrm>
            <a:off x="8138160" y="2103120"/>
            <a:ext cx="502920" cy="50292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8861" y="222382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78240" y="21214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7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138160" y="265176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|t| &gt; 1.96 = statistically real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C5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reversion genuinely exists on NSE equities — not noise.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3C5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correlation ~0.02 is tiny — the edge per trade is minuscule.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50" b="1" i="1" dirty="0">
                <a:solidFill>
                  <a:srgbClr val="0C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significant, economically too thin to beat costs.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from the 6-year run, where it was insignificant.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PCA-Residual Statistical Arbitrage  ·  SURP 2026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DOING IT HONESTLY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Rigor: what makes this result trustworthy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6E8E2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74520"/>
            <a:ext cx="512064" cy="512064"/>
          </a:xfrm>
          <a:prstGeom prst="ellipse">
            <a:avLst/>
          </a:prstGeom>
          <a:solidFill>
            <a:srgbClr val="E8613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99741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&amp; fixed a real P&amp;L bug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9536" y="2532888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backtest showed −35%. An audit revealed closed positions weren't crediting realized gains to cash. Fixed &amp; re-verified — the loss was a bug, not a result.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16002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BF1E2"/>
          </a:solidFill>
          <a:ln/>
        </p:spPr>
      </p:sp>
      <p:sp>
        <p:nvSpPr>
          <p:cNvPr id="10" name="Shape 7"/>
          <p:cNvSpPr/>
          <p:nvPr/>
        </p:nvSpPr>
        <p:spPr>
          <a:xfrm>
            <a:off x="6693408" y="1874520"/>
            <a:ext cx="512064" cy="512064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303" y="199741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745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Avoided two overfitting traps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11696" y="2532888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'lucky' factor count and an in-sample reversion artifact both looked great but were noise. Rejected both by staying skeptical of good-looking numbers.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95928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7F5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" y="4270248"/>
            <a:ext cx="512064" cy="512064"/>
          </a:xfrm>
          <a:prstGeom prst="ellipse">
            <a:avLst/>
          </a:prstGeom>
          <a:solidFill>
            <a:srgbClr val="2BB673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439314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702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the engine itself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9536" y="4928616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Known-answer tests: strong reversion → big profit, random walk → flat, momentum → loss (and win when flipped). Proves the harness detects edge and invents none.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0" y="3995928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EAF6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693408" y="4270248"/>
            <a:ext cx="512064" cy="512064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303" y="4393143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702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Triple-verified the numbers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711696" y="4928616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audits plus an independent equity-curve reconstruction matching to floating-point zero. Every headline number reproduces from committed code.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PCA-Residual Statistical Arbitrage  ·  SURP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91840"/>
            <a:ext cx="5943600" cy="5943600"/>
          </a:xfrm>
          <a:prstGeom prst="ellipse">
            <a:avLst/>
          </a:prstGeom>
          <a:solidFill>
            <a:srgbClr val="0C7B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Futures Extension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strategy, lower-cost regime — where the cash study says an edge could survive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4663440"/>
            <a:ext cx="640080" cy="64008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" y="481705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single-stock futures are the right pivot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4520"/>
            <a:ext cx="512064" cy="512064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99741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~4× lower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9536" y="2532888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STT-scale tax on futures (~0.02% sell-side only). All-in ~10–15 bps vs ~42 bps in cash — precisely the regime where the edge turns positive (Sharpe ~+0.22).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16002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93408" y="1874520"/>
            <a:ext cx="512064" cy="512064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303" y="199741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745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Shorting is realistic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11696" y="2532888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 study assumed free overnight shorting — not truly possible for retail. Futures can be shorted freely overnight, making the market-neutral book genuinely executable.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95928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270248"/>
            <a:ext cx="512064" cy="512064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439314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702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10-year data exists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9536" y="4928616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F&amp;O bhavcopy — official daily archive, free, no account. Covers all single-stock &amp; index futures across 2015–2024, including contract-roll construction.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0" y="3995928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93408" y="4270248"/>
            <a:ext cx="512064" cy="512064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303" y="4393143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702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change to method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711696" y="4928616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identical PCA-residual pipeline runs on a continuous futures series. We reuse the verified engine — only the instrument and cost model change.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PCA-Residual Statistical Arbitrage  ·  SURP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PROGRESS SO FAR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pipeline: verified on a 2-name prototype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4297680"/>
          </a:xfrm>
          <a:prstGeom prst="roundRect">
            <a:avLst>
              <a:gd name="adj" fmla="val 1702"/>
            </a:avLst>
          </a:prstGeom>
          <a:solidFill>
            <a:srgbClr val="E7F5E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2BB673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&amp; working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Bhavcopy download &amp; parsing for BOTH formats (old CSV + new UDiFF post-2024)</a:t>
            </a:r>
            <a:endParaRPr lang="en-US" sz="13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Front-month extraction + continuous-contract stitching with roll back-adjustment</a:t>
            </a:r>
            <a:endParaRPr lang="en-US" sz="13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Corporate-action adjustment — caught &amp; fixed a RELIANCE 1:1 bonus (fake −50% jump)</a:t>
            </a:r>
            <a:endParaRPr lang="en-US" sz="13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vs cash: ~0.99 return correlation, small clean basis, zero gaps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199522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92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7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scaling to ~190 names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29400" y="237744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F&amp;O membership list — which stocks had futures each day (kills survivorship bias)</a:t>
            </a:r>
            <a:endParaRPr lang="en-US" sz="13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Corporate-action coverage at scale — add demergers / special dividends (e.g. RIL–Jio spin-off)</a:t>
            </a:r>
            <a:endParaRPr lang="en-US" sz="1300" dirty="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Volume-unit normalization across the mid-2024 bhavcopy format change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PCA-Residual Statistical Arbitrage  ·  SURP 2026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to a definitive futures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30168" cy="4114800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1168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5" y="21477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64408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1EE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JULY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the data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2898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858768"/>
            <a:ext cx="293522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verified pipeline to the full ~190 single-stock-futures universe with the point-in-time list and full corporate-action handling.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98848" y="1691640"/>
            <a:ext cx="3630168" cy="4114800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01168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383" y="2147743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14616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1EE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864608" y="283464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JULY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864608" y="31089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the strategy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4864608" y="3703320"/>
            <a:ext cx="2898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64608" y="3858768"/>
            <a:ext cx="293522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PCA-residual pipeline on continuous futures with a fully realistic model: expiry rolling &amp; roll costs, lot sizes, futures costs, margin.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449056" y="1691640"/>
            <a:ext cx="3630168" cy="4114800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796528" y="2011680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591" y="2147743"/>
            <a:ext cx="294803" cy="29480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64824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1EE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8814816" y="283464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JULY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814816" y="31089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Definitive backtest</a:t>
            </a:r>
            <a:endParaRPr lang="en-US" sz="1900" dirty="0"/>
          </a:p>
        </p:txBody>
      </p:sp>
      <p:sp>
        <p:nvSpPr>
          <p:cNvPr id="26" name="Shape 21"/>
          <p:cNvSpPr/>
          <p:nvPr/>
        </p:nvSpPr>
        <p:spPr>
          <a:xfrm>
            <a:off x="8814816" y="3703320"/>
            <a:ext cx="28986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814816" y="3858768"/>
            <a:ext cx="293522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Full-cost vs zero-cost, re-validated OOS &amp; known-answer. Test whether the lower-cost futures regime finally makes the edge tradable.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PCA-Residual Statistical Arbitrage  ·  SURP 2026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5486400" cy="5486400"/>
          </a:xfrm>
          <a:prstGeom prst="ellipse">
            <a:avLst/>
          </a:prstGeom>
          <a:solidFill>
            <a:srgbClr val="0C7B7A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2403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78024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3" y="2614087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31343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rigorous result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83080" y="2715768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PCA-residual reversion on NSE cash equities is statistically real but economically untradable — the STT floor alone exceeds the edge. Triple-verified, honestly reported.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5204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2403F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3849624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63" y="3985687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68503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Research-grade discipline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783080" y="4087368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Fama–MacBeth testing, known-answer validation, a caught P&amp;L bug, and two avoided overfitting traps — the negative result is credible, not a dead end.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2403F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5221224"/>
            <a:ext cx="566928" cy="566928"/>
          </a:xfrm>
          <a:prstGeom prst="ellipse">
            <a:avLst/>
          </a:prstGeom>
          <a:solidFill>
            <a:srgbClr val="0EA5A4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5357287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505663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clear, motivated next step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783080" y="5458968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F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analysis points precisely to futures. The free data pipeline is already verified end-to-end; the definitive futures backtest is the immediate goal.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FC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Kartikya  ·  Guide: Prof. Sandip Mondal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PCA-Residual Statistical Arbitrage — SURP Midterm</dc:title>
  <dc:subject>PptxGenJS Presentation</dc:subject>
  <dc:creator>Kartikya</dc:creator>
  <cp:lastModifiedBy>Kartikya</cp:lastModifiedBy>
  <cp:revision>1</cp:revision>
  <dcterms:created xsi:type="dcterms:W3CDTF">2026-07-02T12:09:43Z</dcterms:created>
  <dcterms:modified xsi:type="dcterms:W3CDTF">2026-07-02T12:09:43Z</dcterms:modified>
</cp:coreProperties>
</file>